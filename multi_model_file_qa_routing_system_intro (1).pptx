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7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4.jpeg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8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jpeg"/><Relationship Id="rId2" Type="http://schemas.openxmlformats.org/officeDocument/2006/relationships/image" Target="../media/image4.jpeg"/><Relationship Id="rId1" Type="http://schemas.openxmlformats.org/officeDocument/2006/relationships/image" Target="../media/image1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3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91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777240"/>
            <a:ext cx="676656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多模型文件问答调度系统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1417320"/>
            <a:ext cx="6035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 File Q&amp;A Routing System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495" y="1965960"/>
            <a:ext cx="4866005" cy="10972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zh-CN" alt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</a:t>
            </a:r>
            <a:r>
              <a:rPr lang="zh-CN" alt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简要说明</a:t>
            </a:r>
            <a:r>
              <a:rPr 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</a:t>
            </a:r>
            <a:endParaRPr lang="en-US" sz="15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按主题拆分子 Agent</a:t>
            </a:r>
            <a:r>
              <a:rPr lang="zh-CN" alt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，</a:t>
            </a:r>
            <a:endParaRPr lang="en-US" sz="15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由路由模型根据用户问题选择最相关的知识文件</a:t>
            </a:r>
            <a:r>
              <a:rPr lang="zh-CN" alt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，</a:t>
            </a:r>
            <a:endParaRPr lang="en-US" sz="15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  <a:p>
            <a:pPr marL="0" indent="0">
              <a:buNone/>
            </a:pPr>
            <a:r>
              <a:rPr lang="en-US" sz="15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基于原文、行号与图片生成可追溯回答。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04215" y="3302635"/>
            <a:ext cx="1433830" cy="640715"/>
          </a:xfrm>
          <a:prstGeom prst="rect">
            <a:avLst/>
          </a:prstGeom>
          <a:solidFill>
            <a:srgbClr val="A78BFA">
              <a:alpha val="85000"/>
            </a:srgbClr>
          </a:solidFill>
          <a:ln>
            <a:solidFill>
              <a:srgbClr val="A78BFA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不使用向量库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363470" y="3303905"/>
            <a:ext cx="1673860" cy="639445"/>
          </a:xfrm>
          <a:prstGeom prst="rect">
            <a:avLst/>
          </a:prstGeom>
          <a:solidFill>
            <a:srgbClr val="6EE7F9">
              <a:alpha val="85000"/>
            </a:srgbClr>
          </a:solidFill>
          <a:ln>
            <a:solidFill>
              <a:srgbClr val="6EE7F9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LLM 语义路由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165" y="4279900"/>
            <a:ext cx="1452880" cy="566420"/>
          </a:xfrm>
          <a:prstGeom prst="rect">
            <a:avLst/>
          </a:prstGeom>
          <a:solidFill>
            <a:srgbClr val="3DDC97">
              <a:alpha val="85000"/>
            </a:srgbClr>
          </a:solidFill>
          <a:ln>
            <a:solidFill>
              <a:srgbClr val="3DDC97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原文实时读取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63470" y="4285615"/>
            <a:ext cx="1673225" cy="577850"/>
          </a:xfrm>
          <a:prstGeom prst="rect">
            <a:avLst/>
          </a:prstGeom>
          <a:solidFill>
            <a:srgbClr val="FEC260">
              <a:alpha val="85000"/>
            </a:srgbClr>
          </a:solidFill>
          <a:ln>
            <a:solidFill>
              <a:srgbClr val="FEC260">
                <a:alpha val="70000"/>
              </a:srgbClr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引用与图片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pic>
        <p:nvPicPr>
          <p:cNvPr id="10" name="Image 0" descr="/mnt/data/ppt_assets/single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0" y="1650365"/>
            <a:ext cx="6421755" cy="30600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784848" y="5230368"/>
            <a:ext cx="4617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单问题测试页：提问、回答、资源引用、路由日志同屏展示</a:t>
            </a:r>
            <a:endParaRPr lang="en-US" sz="12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项目定位：把“大文档问答”拆成可调度的子模型体系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解决单模型直接塞大文件时的上下文过长、定位困难、引用不清晰等问题</a:t>
            </a:r>
            <a:endParaRPr lang="en-US" sz="105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417320"/>
            <a:ext cx="20574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传统做法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单模型 + 全文/向量库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1417320"/>
            <a:ext cx="2057400" cy="914400"/>
          </a:xfrm>
          <a:prstGeom prst="rect">
            <a:avLst/>
          </a:prstGeom>
          <a:solidFill>
            <a:srgbClr val="17255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本项目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Agent + 多子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464040" y="1417320"/>
            <a:ext cx="2057400" cy="91440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最终目标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可靠回答 + 可追溯引用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874520"/>
            <a:ext cx="1874520" cy="0"/>
          </a:xfrm>
          <a:prstGeom prst="line">
            <a:avLst/>
          </a:prstGeom>
          <a:noFill/>
          <a:ln w="1905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269480" y="1874520"/>
            <a:ext cx="1874520" cy="0"/>
          </a:xfrm>
          <a:prstGeom prst="line">
            <a:avLst/>
          </a:prstGeom>
          <a:noFill/>
          <a:ln w="1905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22960" y="2880360"/>
            <a:ext cx="5212080" cy="25146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每个子 Agent 只负责一段主题明确的知识，避免“大而全”的上下文混杂。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初始化时由 INIT_MODEL 从知识文件中生成 route_questions，作为路由语义索引。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问答时由 ROUTER_MODEL 判断最接近的问题集合，再调用 ANSWER_MODEL 基于原文回答。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前端提供单问题测试、管理、批量测试、文件预览等界面，便于调试与验收。</a:t>
            </a:r>
            <a:endParaRPr lang="en-US" sz="1350" dirty="0"/>
          </a:p>
        </p:txBody>
      </p:sp>
      <p:pic>
        <p:nvPicPr>
          <p:cNvPr id="13" name="Image 1" descr="/mnt/data/ppt_assets/single_sidebar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2385060"/>
            <a:ext cx="1572895" cy="355917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91605" y="611251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管理页中的 Agent 列表与单问题测试页中的路由文件信息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800" dirty="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605" y="2331720"/>
            <a:ext cx="2016125" cy="36125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556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核心设计：不建向量库，而是“主题 Agent + 语义路由 + 原文回答”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>
            <p:custDataLst>
              <p:tags r:id="rId1"/>
            </p:custDataLst>
          </p:nvPr>
        </p:nvSpPr>
        <p:spPr>
          <a:xfrm>
            <a:off x="685800" y="1508760"/>
            <a:ext cx="1325880" cy="475488"/>
          </a:xfrm>
          <a:prstGeom prst="rect">
            <a:avLst/>
          </a:prstGeom>
          <a:solidFill>
            <a:srgbClr val="203149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知识拆分</a:t>
            </a:r>
            <a:endParaRPr lang="en-US" sz="1200" dirty="0"/>
          </a:p>
        </p:txBody>
      </p:sp>
      <p:sp>
        <p:nvSpPr>
          <p:cNvPr id="7" name="Text 5"/>
          <p:cNvSpPr/>
          <p:nvPr>
            <p:custDataLst>
              <p:tags r:id="rId2"/>
            </p:custDataLst>
          </p:nvPr>
        </p:nvSpPr>
        <p:spPr>
          <a:xfrm>
            <a:off x="521335" y="2212975"/>
            <a:ext cx="1759585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按页码/章节切分 PDF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形成多个 knowledge.md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Shape 6"/>
          <p:cNvSpPr/>
          <p:nvPr>
            <p:custDataLst>
              <p:tags r:id="rId3"/>
            </p:custDataLst>
          </p:nvPr>
        </p:nvSpPr>
        <p:spPr>
          <a:xfrm>
            <a:off x="203911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9" name="Text 7"/>
          <p:cNvSpPr/>
          <p:nvPr>
            <p:custDataLst>
              <p:tags r:id="rId4"/>
            </p:custDataLst>
          </p:nvPr>
        </p:nvSpPr>
        <p:spPr>
          <a:xfrm>
            <a:off x="3154680" y="1508760"/>
            <a:ext cx="1325880" cy="475488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初始化</a:t>
            </a:r>
            <a:endParaRPr lang="en-US" sz="1200" dirty="0"/>
          </a:p>
        </p:txBody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2990215" y="2212975"/>
            <a:ext cx="1759585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INIT_MODEL 生成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route_questions 与摘要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6"/>
            </p:custDataLst>
          </p:nvPr>
        </p:nvSpPr>
        <p:spPr>
          <a:xfrm>
            <a:off x="450799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2" name="Text 10"/>
          <p:cNvSpPr/>
          <p:nvPr>
            <p:custDataLst>
              <p:tags r:id="rId7"/>
            </p:custDataLst>
          </p:nvPr>
        </p:nvSpPr>
        <p:spPr>
          <a:xfrm>
            <a:off x="5623560" y="1508760"/>
            <a:ext cx="1325880" cy="475488"/>
          </a:xfrm>
          <a:prstGeom prst="rect">
            <a:avLst/>
          </a:prstGeom>
          <a:solidFill>
            <a:srgbClr val="18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语义路由</a:t>
            </a:r>
            <a:endParaRPr lang="en-US" sz="1200" dirty="0"/>
          </a:p>
        </p:txBody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5459095" y="2212975"/>
            <a:ext cx="1759585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ROUTER_MODEL 在候选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中选择最匹配项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4" name="Shape 12"/>
          <p:cNvSpPr/>
          <p:nvPr>
            <p:custDataLst>
              <p:tags r:id="rId9"/>
            </p:custDataLst>
          </p:nvPr>
        </p:nvSpPr>
        <p:spPr>
          <a:xfrm>
            <a:off x="697687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5" name="Text 13"/>
          <p:cNvSpPr/>
          <p:nvPr>
            <p:custDataLst>
              <p:tags r:id="rId10"/>
            </p:custDataLst>
          </p:nvPr>
        </p:nvSpPr>
        <p:spPr>
          <a:xfrm>
            <a:off x="8092440" y="1508760"/>
            <a:ext cx="1325880" cy="475488"/>
          </a:xfrm>
          <a:prstGeom prst="rect">
            <a:avLst/>
          </a:prstGeom>
          <a:solidFill>
            <a:srgbClr val="253148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原文回答</a:t>
            </a:r>
            <a:endParaRPr lang="en-US" sz="1200" dirty="0"/>
          </a:p>
        </p:txBody>
      </p:sp>
      <p:sp>
        <p:nvSpPr>
          <p:cNvPr id="16" name="Text 14"/>
          <p:cNvSpPr/>
          <p:nvPr>
            <p:custDataLst>
              <p:tags r:id="rId11"/>
            </p:custDataLst>
          </p:nvPr>
        </p:nvSpPr>
        <p:spPr>
          <a:xfrm>
            <a:off x="7927975" y="2212975"/>
            <a:ext cx="1759585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ANSWER_MODEL 读取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带行号原文与图片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7" name="Shape 15"/>
          <p:cNvSpPr/>
          <p:nvPr>
            <p:custDataLst>
              <p:tags r:id="rId12"/>
            </p:custDataLst>
          </p:nvPr>
        </p:nvSpPr>
        <p:spPr>
          <a:xfrm>
            <a:off x="9445752" y="1746504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8" name="Text 16"/>
          <p:cNvSpPr/>
          <p:nvPr>
            <p:custDataLst>
              <p:tags r:id="rId13"/>
            </p:custDataLst>
          </p:nvPr>
        </p:nvSpPr>
        <p:spPr>
          <a:xfrm>
            <a:off x="10561320" y="1508760"/>
            <a:ext cx="1325880" cy="475488"/>
          </a:xfrm>
          <a:prstGeom prst="rect">
            <a:avLst/>
          </a:prstGeom>
          <a:solidFill>
            <a:srgbClr val="2F2B49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引用展示</a:t>
            </a:r>
            <a:endParaRPr lang="en-US" sz="1200" dirty="0"/>
          </a:p>
        </p:txBody>
      </p:sp>
      <p:sp>
        <p:nvSpPr>
          <p:cNvPr id="19" name="Text 17"/>
          <p:cNvSpPr/>
          <p:nvPr>
            <p:custDataLst>
              <p:tags r:id="rId14"/>
            </p:custDataLst>
          </p:nvPr>
        </p:nvSpPr>
        <p:spPr>
          <a:xfrm>
            <a:off x="10396855" y="2212975"/>
            <a:ext cx="1759585" cy="9144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前端展示答案、行号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PDF页图/Markdown图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4400" y="3794760"/>
            <a:ext cx="5166360" cy="16002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路由依据不是关键词匹配，而是把用户问题与各 Agent 的 route_questions 做语义对照。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回答阶段将知识内容附加行号，便于模型输出引用并让前端定位来源。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测试时可开启 MOCK_LLM，不依赖真实上游模型，便于自动化验证。</a:t>
            </a:r>
            <a:endParaRPr lang="en-US" sz="16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pic>
        <p:nvPicPr>
          <p:cNvPr id="21" name="Image 0" descr="/mnt/data/ppt_assets/single_resources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10575" y="2629535"/>
            <a:ext cx="1887220" cy="3922395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359525" y="5920105"/>
            <a:ext cx="2667000" cy="631825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引用资源区域</a:t>
            </a:r>
            <a:endParaRPr lang="en-US" sz="14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总体架构：前端控制台 + FastAPI 服务 + 本地文件体系 + LLM 网关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685800" y="1810512"/>
            <a:ext cx="1920240" cy="71323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Web 控制台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单测 / 管理 / 批测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54680" y="1810512"/>
            <a:ext cx="187452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/app/main.py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577840" y="1261872"/>
            <a:ext cx="1828800" cy="621792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Registry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agents.json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577840" y="2267712"/>
            <a:ext cx="1828800" cy="621792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File Loader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md/pdf/docx/xlsx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1810512"/>
            <a:ext cx="1874520" cy="713232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LLM Client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OpenAI兼容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1810512"/>
            <a:ext cx="1691640" cy="713232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上游模型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 / Init / Answer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06040" y="2167128"/>
            <a:ext cx="50292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5034915" y="1555115"/>
            <a:ext cx="533400" cy="61214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26660" y="2150110"/>
            <a:ext cx="547370" cy="415925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572895"/>
            <a:ext cx="682625" cy="587375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7399020" y="2160905"/>
            <a:ext cx="700405" cy="418465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66960" y="2167128"/>
            <a:ext cx="13716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777240" y="288036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后端模块拆分</a:t>
            </a:r>
            <a:endParaRPr lang="en-US" sz="1600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77240" y="3520440"/>
            <a:ext cx="356616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agent_runner：回答阶段执行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router：路由选择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initializer：生成路由问题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knowledge_loader：读取知识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batch_evaluator：批测评分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846320" y="306324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数据持久化</a:t>
            </a:r>
            <a:endParaRPr lang="en-US" sz="1600" b="1" dirty="0">
              <a:solidFill>
                <a:srgbClr val="A78BFA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46320" y="3520440"/>
            <a:ext cx="3383280" cy="17373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config/agents.json 保存 Agent 状态、问题集与摘要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files/agent_x/ 保存 knowledge.md 与 assets 图片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config/batch_tests.json 保存测试用例与评估结果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823960" y="306324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3DDC9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模型接入</a:t>
            </a:r>
            <a:endParaRPr lang="en-US" sz="1600" b="1" dirty="0">
              <a:solidFill>
                <a:srgbClr val="3DDC97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23960" y="3520440"/>
            <a:ext cx="2788920" cy="17373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OpenAI SDK chat.completions.create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支持 API_BASE_URL / API_KEY / 模型名配置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支持 content parts、max_completion_tokens 等网关差异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>
              <a:solidFill>
                <a:srgbClr val="5D6B91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运行流程：初始化链路与问答链路分离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先让子 Agent 形成可路由的问题集合，再在用户提问时按语义选择最相关知识源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82880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初始化阶段</a:t>
            </a:r>
            <a:endParaRPr lang="en-US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1417320" cy="475488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 Agent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14600" y="1783080"/>
            <a:ext cx="1417320" cy="475488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上传/注册文件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297680" y="1783080"/>
            <a:ext cx="1508760" cy="475488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knowledge.md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199632" y="1719072"/>
            <a:ext cx="1627632" cy="603504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INIT_MODEL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route_questions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11312" y="1719072"/>
            <a:ext cx="1645920" cy="603504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写入 agents.json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initialized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148840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31920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806440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27264" y="2020824"/>
            <a:ext cx="3657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665480" y="2414270"/>
            <a:ext cx="182880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问答阶段</a:t>
            </a:r>
            <a:endParaRPr lang="en-US" b="1" dirty="0">
              <a:solidFill>
                <a:srgbClr val="A78BFA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65480" y="2898902"/>
            <a:ext cx="1234440" cy="475488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用户问题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265680" y="2825750"/>
            <a:ext cx="160020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ROUTER_MODEL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 0/1 个 Agent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277360" y="2825750"/>
            <a:ext cx="150876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实时读取知识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行号 + 图片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70168" y="2825750"/>
            <a:ext cx="141732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ANSWER_MODEL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生成答案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026400" y="2825750"/>
            <a:ext cx="1508760" cy="603504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前端展示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答案/引用/日志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038080" y="2825750"/>
            <a:ext cx="1508760" cy="603504"/>
          </a:xfrm>
          <a:prstGeom prst="rect">
            <a:avLst/>
          </a:prstGeom>
          <a:solidFill>
            <a:srgbClr val="3B2F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无法匹配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need_clarification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89992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6588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78612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587488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35160" y="3127502"/>
            <a:ext cx="329184" cy="0"/>
          </a:xfrm>
          <a:prstGeom prst="line">
            <a:avLst/>
          </a:prstGeom>
          <a:noFill/>
          <a:ln w="1270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12115" y="3796665"/>
            <a:ext cx="4232275" cy="187579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初始化只在知识更新、Agent 新增或刷新时执行。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问答阶段不长期缓存大文本，按当前文件重新构造上下文。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如果 route_questions 没有可匹配项，直接返回澄清问题，避免错误调用。</a:t>
            </a:r>
            <a:endParaRPr lang="en-US" sz="16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pic>
        <p:nvPicPr>
          <p:cNvPr id="29" name="Image 0" descr="/mnt/data/ppt_assets/manage_split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3005" y="3601085"/>
            <a:ext cx="2807970" cy="3175635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629400" y="614476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管理页支持按页码切分与初始化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三模型分工：把“选文件”和“答问题”拆开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15695"/>
            <a:ext cx="2011680" cy="621792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INIT_MODEL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初始化模型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4340" y="1778000"/>
            <a:ext cx="2606040" cy="1508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输入：knowledge.md / 原始文件内容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输出：route_questions、file_summaries</a:t>
            </a:r>
            <a:endParaRPr 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职责</a:t>
            </a: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：让每个 Agent 变成可被路由的知识单元。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74920" y="1115695"/>
            <a:ext cx="2011680" cy="621792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ROUTER_MODEL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路由模型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12030" y="1778000"/>
            <a:ext cx="2606040" cy="1508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输入：用户问题 + 候选 Agent 列表 + route_questions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输出：target_agents 或 need_clarification</a:t>
            </a:r>
            <a:endParaRPr 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职责</a:t>
            </a: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：只决定“问谁”，不负责答题。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144000" y="1115695"/>
            <a:ext cx="2011680" cy="621792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ANSWER_MODEL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回答模型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0655" y="1778000"/>
            <a:ext cx="2423160" cy="1508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输入：被选 Agent 的原文、行号与图片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输出：回答正文、引用、相关图片</a:t>
            </a:r>
            <a:endParaRPr lang="en-US" sz="1400" dirty="0"/>
          </a:p>
          <a:p>
            <a:pPr marL="0" indent="0">
              <a:buNone/>
            </a:pPr>
            <a:r>
              <a:rPr lang="zh-CN" alt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  <a:sym typeface="+mn-ea"/>
              </a:rPr>
              <a:t>职责</a:t>
            </a: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：聚焦“依据原文准确回答”。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91840" y="1435735"/>
            <a:ext cx="146304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0" y="1435735"/>
            <a:ext cx="1325880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pic>
        <p:nvPicPr>
          <p:cNvPr id="14" name="Image 0" descr="/mnt/data/ppt_assets/manage_router_prompt.jpg"/>
          <p:cNvPicPr>
            <a:picLocks noChangeAspect="1"/>
          </p:cNvPicPr>
          <p:nvPr/>
        </p:nvPicPr>
        <p:blipFill>
          <a:blip r:embed="rId1"/>
          <a:srcRect b="23863"/>
          <a:stretch>
            <a:fillRect/>
          </a:stretch>
        </p:blipFill>
        <p:spPr>
          <a:xfrm>
            <a:off x="168275" y="3144520"/>
            <a:ext cx="4168775" cy="3685540"/>
          </a:xfrm>
          <a:prstGeom prst="rect">
            <a:avLst/>
          </a:prstGeom>
        </p:spPr>
      </p:pic>
      <p:pic>
        <p:nvPicPr>
          <p:cNvPr id="15" name="Image 1" descr="/mnt/data/ppt_assets/agent_prompt.jpg"/>
          <p:cNvPicPr>
            <a:picLocks noChangeAspect="1"/>
          </p:cNvPicPr>
          <p:nvPr/>
        </p:nvPicPr>
        <p:blipFill>
          <a:blip r:embed="rId2"/>
          <a:srcRect b="50393"/>
          <a:stretch>
            <a:fillRect/>
          </a:stretch>
        </p:blipFill>
        <p:spPr>
          <a:xfrm>
            <a:off x="6924675" y="3559175"/>
            <a:ext cx="5126990" cy="278066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" y="6492367"/>
            <a:ext cx="101955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左：总 Agent 路由提示词；右：子 Agent 回答约束提示词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数据与文件体系：每个 Agent 都是一组“配置 + 知识 + 资产”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99465" y="4170680"/>
            <a:ext cx="1965960" cy="530352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config/agents.json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9465" y="5011928"/>
            <a:ext cx="1965960" cy="53035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files/agent_1/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14065" y="4291838"/>
            <a:ext cx="1783080" cy="53035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knowledge.md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14065" y="5050790"/>
            <a:ext cx="1783080" cy="530352"/>
          </a:xfrm>
          <a:prstGeom prst="rect">
            <a:avLst/>
          </a:prstGeom>
          <a:solidFill>
            <a:srgbClr val="1F2A44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assets/*.png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9465" y="5812790"/>
            <a:ext cx="1965960" cy="530352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config/batch_tests.json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flipV="1">
            <a:off x="2741930" y="4576445"/>
            <a:ext cx="580390" cy="739775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V="1">
            <a:off x="2765425" y="5315585"/>
            <a:ext cx="549910" cy="635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40080" y="1174750"/>
            <a:ext cx="5303520" cy="16459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Agent 配置：id、名称、状态、route_questions、file_summaries、补充提示词。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知识文件：优先使用 Markdown，可引用 assets </a:t>
            </a:r>
            <a:r>
              <a:rPr lang="zh-CN" alt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文件夹</a:t>
            </a: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中的图片；也可上传 PDF、DOCX、XLSX 等。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测试文件：批量用例独立保存，便于反复运行、统计准确率、定位回归问题。</a:t>
            </a:r>
            <a:endParaRPr lang="en-US" sz="16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pic>
        <p:nvPicPr>
          <p:cNvPr id="14" name="Image 0" descr="/mnt/data/ppt_assets/agent_knowled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3985" y="1073150"/>
            <a:ext cx="4447540" cy="50114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217920" y="6236208"/>
            <a:ext cx="50749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knowledge.md 中包含正文、页码标记、Markdown 图片引用与行号引用基础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管理页：总 Agent 管理 + 子 Agent 拆分、初始化与提示词维护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manage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45" y="1471930"/>
            <a:ext cx="8349615" cy="4026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51875" y="1234440"/>
            <a:ext cx="19202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界面职责</a:t>
            </a:r>
            <a:endParaRPr lang="en-US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651875" y="1691640"/>
            <a:ext cx="3063240" cy="3095625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左侧：总 Agent 与子 Agent 列表，状态 initialized </a:t>
            </a:r>
            <a:r>
              <a:rPr lang="zh-CN" alt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表示已初始化</a:t>
            </a: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中间：对源 PDF 设置页码区间，并执行切分、上传与初始化。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右侧：总 Agent 路由提示词，控制 route_questions 匹配逻辑。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适合在项目调试阶段快速构建多个主题子模型。</a:t>
            </a:r>
            <a:endParaRPr lang="en-US" sz="16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02920" y="5702808"/>
            <a:ext cx="7223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管理页（总、子模型）：Agent 配置与初始化入口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95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  <p:txBody>
          <a:bodyPr>
            <a:noAutofit/>
          </a:bodyPr>
          <a:p>
            <a:pPr lvl="0" algn="l">
              <a:buClrTx/>
              <a:buSzTx/>
              <a:buFontTx/>
            </a:pPr>
            <a:r>
              <a:rPr lang="en-US" altLang="zh-CN">
                <a:sym typeface="+mn-ea"/>
              </a:rPr>
              <a:t>F</a:t>
            </a:r>
            <a:endParaRPr lang="en-US" altLang="zh-CN">
              <a:sym typeface="+mn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</a:t>
            </a:r>
            <a:r>
              <a:rPr lang="en-US" altLang="zh-CN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 Agent </a:t>
            </a:r>
            <a:r>
              <a:rPr lang="zh-CN" alt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路由集合：</a:t>
            </a:r>
            <a:r>
              <a:rPr lang="en-US" altLang="zh-CN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 route_questions </a:t>
            </a:r>
            <a:r>
              <a:rPr lang="zh-CN" alt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</a:t>
            </a:r>
            <a:r>
              <a:rPr lang="zh-CN" alt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</a:t>
            </a:r>
            <a:endParaRPr lang="zh-CN" altLang="en-US" sz="25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30225" y="850265"/>
            <a:ext cx="5324475" cy="188785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just">
              <a:buNone/>
            </a:pPr>
            <a:r>
              <a:rPr lang="zh-CN" alt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</a:t>
            </a:r>
            <a:r>
              <a:rPr lang="en-US" altLang="zh-CN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</a:t>
            </a:r>
            <a:r>
              <a:rPr lang="zh-CN" alt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只负责根据用户问题匹配最接近的子</a:t>
            </a:r>
            <a:r>
              <a:rPr lang="en-US" altLang="zh-CN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</a:t>
            </a:r>
            <a:r>
              <a:rPr lang="zh-CN" alt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问题集合</a:t>
            </a:r>
            <a:endParaRPr lang="zh-CN" altLang="en-US" sz="14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  <a:p>
            <a:pPr marL="0" indent="0">
              <a:buNone/>
            </a:pPr>
            <a:r>
              <a:rPr lang="zh-CN" alt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不直接读取全部文档内容。路由问题每行对应一个可匹配的用户问题方向</a:t>
            </a:r>
            <a:endParaRPr lang="zh-CN" altLang="en-US" sz="14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800" dirty="0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6510" y="822960"/>
            <a:ext cx="4784725" cy="5484495"/>
          </a:xfrm>
          <a:prstGeom prst="rect">
            <a:avLst/>
          </a:prstGeom>
        </p:spPr>
      </p:pic>
      <p:sp>
        <p:nvSpPr>
          <p:cNvPr id="15" name="Text 2"/>
          <p:cNvSpPr/>
          <p:nvPr/>
        </p:nvSpPr>
        <p:spPr>
          <a:xfrm>
            <a:off x="7198360" y="6382385"/>
            <a:ext cx="2804795" cy="40259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zh-CN" altLang="en-US" sz="14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</a:t>
            </a:r>
            <a:r>
              <a:rPr lang="en-US" altLang="zh-CN" sz="14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</a:t>
            </a:r>
            <a:r>
              <a:rPr lang="zh-CN" altLang="en-US" sz="14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</a:t>
            </a:r>
            <a:r>
              <a:rPr lang="zh-CN" altLang="en-US" sz="14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  <a:sym typeface="+mn-ea"/>
              </a:rPr>
              <a:t>route_questions</a:t>
            </a:r>
            <a:endParaRPr lang="zh-CN" altLang="en-US" sz="14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子模型管理：知识文本与回答约束同步维护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子 Agent 页面可以编辑知识文件，同时维护该 Agent 的回答规则与引用规则</a:t>
            </a:r>
            <a:endParaRPr lang="en-US" sz="12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agent_knowledg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020" y="1143000"/>
            <a:ext cx="4157980" cy="4685030"/>
          </a:xfrm>
          <a:prstGeom prst="rect">
            <a:avLst/>
          </a:prstGeom>
        </p:spPr>
      </p:pic>
      <p:pic>
        <p:nvPicPr>
          <p:cNvPr id="7" name="Image 1" descr="/mnt/data/ppt_assets/agent_prom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570" y="1143000"/>
            <a:ext cx="4318000" cy="47212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894705"/>
            <a:ext cx="104241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左：knowledge.md；右：子 Agent 提示词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763270" y="6308090"/>
            <a:ext cx="10857865" cy="36576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通过“知识内容 + 回答规则”绑定到同一个子 Agent，既保证模型有依据，又限制其必须按原文、行号和图片引用回答，避免凭空扩展。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单问题测试页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  <a:sym typeface="+mn-ea"/>
              </a:rPr>
              <a:t>一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  <a:sym typeface="+mn-ea"/>
              </a:rPr>
              <a:t>次问答完整观察路由、回答、引用与耗时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  <a:sym typeface="+mn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single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340" y="1600200"/>
            <a:ext cx="7714615" cy="36760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0" y="1143000"/>
            <a:ext cx="164592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观察点</a:t>
            </a:r>
            <a:endParaRPr lang="en-US" sz="2000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229600" y="1600200"/>
            <a:ext cx="3154680" cy="309245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输入问题：例如“怎么调光圈”。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选择路由：可指定</a:t>
            </a:r>
            <a:r>
              <a:rPr lang="zh-CN" alt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回答的</a:t>
            </a:r>
            <a:r>
              <a:rPr 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Agent。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回答区：展示最终答案，支持插图辅助说明。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资源区：列出引用行号与相关图片。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右侧日志：显示 route、source_pdf、页码范围与耗时。</a:t>
            </a:r>
            <a:endParaRPr lang="en-US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30225" y="5650865"/>
            <a:ext cx="7223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单问题测试页：模型回答与右侧文件/日志面板</a:t>
            </a:r>
            <a:endParaRPr lang="en-US" sz="120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回答展示：从“说得像”走向“可核验”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single_answer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05" y="1103630"/>
            <a:ext cx="5842635" cy="4051300"/>
          </a:xfrm>
          <a:prstGeom prst="rect">
            <a:avLst/>
          </a:prstGeom>
        </p:spPr>
      </p:pic>
      <p:pic>
        <p:nvPicPr>
          <p:cNvPr id="7" name="Image 1" descr="/mnt/data/ppt_assets/single_resourc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8585" y="1097915"/>
            <a:ext cx="1950720" cy="4057015"/>
          </a:xfrm>
          <a:prstGeom prst="rect">
            <a:avLst/>
          </a:prstGeom>
        </p:spPr>
      </p:pic>
      <p:pic>
        <p:nvPicPr>
          <p:cNvPr id="8" name="Image 2" descr="/mnt/data/ppt_assets/single_sideb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460" y="1103630"/>
            <a:ext cx="1789430" cy="40513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85800" y="5340096"/>
            <a:ext cx="104241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回答区、资源引用区、文件与路由信息区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868680" y="5715000"/>
            <a:ext cx="10149840" cy="9601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答案区负责自然语言解释，不直接暴露模型内部路由提示词。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引用区显示 L129-L137 等行号，帮助定位 knowledge.md 或 PDF 页文本。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相关图片把图示与回答绑定，适合说明书、图纸、操作手册类文档。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右侧日志记录 route、source_pdf、page_start/page_end、generated_at 等调试信息。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批量测试页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85039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用于批量导入问题、运行测试、观察参考答案与模型答案差距，并统计准确率</a:t>
            </a:r>
            <a:endParaRPr lang="en-US" sz="1400" dirty="0">
              <a:solidFill>
                <a:schemeClr val="bg1">
                  <a:lumMod val="95000"/>
                </a:schemeClr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pic>
        <p:nvPicPr>
          <p:cNvPr id="6" name="Image 0" descr="/mnt/data/ppt_assets/batch_full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0" y="1345565"/>
            <a:ext cx="8119745" cy="3829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1143000"/>
            <a:ext cx="173736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评估方式</a:t>
            </a:r>
            <a:endParaRPr lang="en-US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412480" y="1600200"/>
            <a:ext cx="2926080" cy="2916555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左侧用例列表显示每题准确率，支持逐条运行。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中间展示模型回答，可检查是否调用正确 Agent。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右侧参考答案用于人工或模型辅助评估。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适合回归测试：改提示词、改切分范围后重新跑一遍。</a:t>
            </a:r>
            <a:endParaRPr lang="en-US" sz="16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8458200" y="4983480"/>
            <a:ext cx="896112" cy="41148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测试用例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528048" y="4983480"/>
            <a:ext cx="896112" cy="41148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运行问答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97896" y="4983480"/>
            <a:ext cx="896112" cy="411480"/>
          </a:xfrm>
          <a:prstGeom prst="rect">
            <a:avLst/>
          </a:prstGeom>
          <a:solidFill>
            <a:srgbClr val="26314A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评分反馈</a:t>
            </a:r>
            <a:endParaRPr lang="en-US" sz="14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63456" y="5193792"/>
            <a:ext cx="1371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10433304" y="5193792"/>
            <a:ext cx="137160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548640" y="5394960"/>
            <a:ext cx="74066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批量测试页：用例列表、模型回答、参考答案与文件预览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使用方法：从安装启动到新增 Agent 的完整路径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安装依赖</a:t>
            </a:r>
            <a:endParaRPr lang="en-US" sz="1600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5120640" cy="4114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pip install fastapi uvicorn python-dotenv openai pydantic pymupdf python-docx openpyxl pytest httpx</a:t>
            </a:r>
            <a:endParaRPr lang="en-US" sz="1400" dirty="0">
              <a:solidFill>
                <a:srgbClr val="E2E8F0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配置 .env</a:t>
            </a:r>
            <a:endParaRPr lang="en-US" sz="1600" b="1" dirty="0">
              <a:solidFill>
                <a:srgbClr val="A78BFA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2788920"/>
            <a:ext cx="4617720" cy="96012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API_BASE_URL / API_KEY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ROUTER_MODEL / INIT_MODEL / ANSWER_MODEL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MAX_FILE_CHARS / ANSWER_WITH_IMAGES / MOCK_LLM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39776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3DDC9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启动服务</a:t>
            </a:r>
            <a:endParaRPr lang="en-US" sz="1600" b="1" dirty="0">
              <a:solidFill>
                <a:srgbClr val="3DDC97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77240" y="4434840"/>
            <a:ext cx="5074920" cy="6400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uvicorn app.main:app --reload --host 0.0.0.0 --port 8000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或运行仓库根目录 start-server.ps1</a:t>
            </a:r>
            <a:endParaRPr lang="en-US" sz="1400" dirty="0">
              <a:solidFill>
                <a:srgbClr val="E2E8F0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0" y="1234440"/>
            <a:ext cx="237744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4. 新增 Agent 与问答</a:t>
            </a:r>
            <a:endParaRPr lang="en-US" sz="1600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46520" y="1719072"/>
            <a:ext cx="164592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POST /agents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458200" y="1719072"/>
            <a:ext cx="164592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上传或注册文件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46520" y="2487168"/>
            <a:ext cx="164592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POST /initialize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58200" y="2487168"/>
            <a:ext cx="2011680" cy="420624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POST /ask 或 /ask/stream</a:t>
            </a:r>
            <a:endParaRPr lang="en-US" sz="12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092440" y="1929384"/>
            <a:ext cx="310896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092440" y="2697480"/>
            <a:ext cx="310896" cy="0"/>
          </a:xfrm>
          <a:prstGeom prst="line">
            <a:avLst/>
          </a:prstGeom>
          <a:noFill/>
          <a:ln w="1270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400800" y="365760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常用入口</a:t>
            </a:r>
            <a:endParaRPr lang="en-US" sz="1600" b="1" dirty="0">
              <a:solidFill>
                <a:srgbClr val="A78BFA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46520" y="4069080"/>
            <a:ext cx="4389120" cy="146304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GET /health：健康检查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Web 控制台：http://127.0.0.1:8000/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GET /agents：查看 Agent 列表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GET /preview：渲染 PDF 指定页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POST /batch/tests/import：批量导入用例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实现方式：后端按职责拆模块，前端按工作台拆页面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EE7F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后端模块</a:t>
            </a:r>
            <a:endParaRPr lang="en-US" sz="1600" b="1" dirty="0">
              <a:solidFill>
                <a:srgbClr val="6EE7F9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4160520" cy="24688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main.py：路由入口与 API 注册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llm_client.py：OpenAI 兼容模型调用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initializer.py：生成 route_questions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router.py：根据问题选择 Agent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agent_runner.py：回答阶段调用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knowledge_loader.py / file_loader.py：知识读取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batch_evaluator.py：批量评估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503295"/>
            <a:ext cx="2011680" cy="292608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78BF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前端模块</a:t>
            </a:r>
            <a:endParaRPr lang="en-US" sz="1600" b="1" dirty="0">
              <a:solidFill>
                <a:srgbClr val="A78BFA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960495"/>
            <a:ext cx="4160520" cy="246888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index.html：工作台入口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test.js：单问题测试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manage.js：Agent 与文件管理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batch.js：批量测试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answerRender.js：答案与图片渲染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filePreview.js：PDF/图片/媒体预览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styles.css：深色控制台样式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pic>
        <p:nvPicPr>
          <p:cNvPr id="10" name="Image 0" descr="/mnt/data/ppt_assets/batch_ref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2950" y="1454150"/>
            <a:ext cx="2917190" cy="3625215"/>
          </a:xfrm>
          <a:prstGeom prst="rect">
            <a:avLst/>
          </a:prstGeom>
        </p:spPr>
      </p:pic>
      <p:pic>
        <p:nvPicPr>
          <p:cNvPr id="11" name="Image 1" descr="/mnt/data/ppt_assets/single_sideb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0140" y="1234440"/>
            <a:ext cx="1866900" cy="42252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55745" y="5847715"/>
            <a:ext cx="8046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AAB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前端渲染参考答案、相关图片与文件元信息；后端返回结构化字段驱动展示</a:t>
            </a:r>
            <a:endParaRPr lang="en-US" sz="1050" dirty="0">
              <a:solidFill>
                <a:srgbClr val="AAB6D3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优势、边界与优化方向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855980"/>
            <a:ext cx="1143000" cy="457200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优势</a:t>
            </a:r>
            <a:endParaRPr lang="en-US" sz="16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1496060"/>
            <a:ext cx="338328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结构清晰：总 Agent 只路由，子 Agent 只回答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可解释性强：回答可定位到行号、页码、图片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部署轻量：无需向量库、数据库和复杂检索服务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调试友好：管理页、单测页、批测页闭环完整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26280" y="855980"/>
            <a:ext cx="1143000" cy="457200"/>
          </a:xfrm>
          <a:prstGeom prst="rect">
            <a:avLst/>
          </a:prstGeom>
          <a:solidFill>
            <a:srgbClr val="2E3351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</a:t>
            </a:r>
            <a:endParaRPr lang="en-US" sz="16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26280" y="1496060"/>
            <a:ext cx="338328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实时读取大文件会增加 token 成本与响应时延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route_questions 覆盖不足时可能误路由或无法匹配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单 Agent 调度适合单主题问题，多主题问题需要合并策略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图片理解依赖视觉模型能力与图片抽取质量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0" y="855980"/>
            <a:ext cx="1417320" cy="457200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优化方向</a:t>
            </a:r>
            <a:endParaRPr lang="en-US" sz="1600" b="1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0" y="1496060"/>
            <a:ext cx="3200400" cy="182880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增加多 Agent 答案聚合与冲突消解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缓存摘要、页级索引和图片缩略图，降低响应成本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批测结果反向修正 route_questions 与提示词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接入语音助手：ASR → 路由问答 → TTS</a:t>
            </a:r>
            <a:endParaRPr lang="en-US" sz="14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总结：一个面向文档问答的“可路由、可引用、可测试”原型系统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9189720" y="38404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DD3F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multi-model-file-Q-A-routing-system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88036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架构主线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 Agent 路由 + 子 Agent 回答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0" y="1508760"/>
            <a:ext cx="2880360" cy="822960"/>
          </a:xfrm>
          <a:prstGeom prst="rect">
            <a:avLst/>
          </a:prstGeom>
          <a:solidFill>
            <a:srgbClr val="17324D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界面主线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 / 单测 / 批测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0" y="1508760"/>
            <a:ext cx="2880360" cy="822960"/>
          </a:xfrm>
          <a:prstGeom prst="rect">
            <a:avLst/>
          </a:prstGeom>
          <a:solidFill>
            <a:srgbClr val="193D46"/>
          </a:solidFill>
          <a:ln w="12700">
            <a:solidFill>
              <a:srgbClr val="2B3658">
                <a:alpha val="8500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效果主线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引用 / 图片 / 准确率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94760" y="1920240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635240" y="1920240"/>
            <a:ext cx="749808" cy="0"/>
          </a:xfrm>
          <a:prstGeom prst="line">
            <a:avLst/>
          </a:prstGeom>
          <a:noFill/>
          <a:ln w="15240">
            <a:solidFill>
              <a:srgbClr val="6EE7F9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188720" y="3154680"/>
            <a:ext cx="5623560" cy="2390140"/>
          </a:xfrm>
          <a:prstGeom prst="rect">
            <a:avLst/>
          </a:prstGeom>
          <a:noFill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项目把大文档拆为多个可管理知识单元，减少无关上下文进入回答阶段。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路由模型只做选择，回答模型只做依据原文回答，职责边界清楚。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前端截图体现了可操作性：创建/切分/初始化、提问/引用/日志、批量评估。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后续可以围绕多 Agent 聚合、缓存优化和语音客服集成继续增强。</a:t>
            </a:r>
            <a:endParaRPr lang="en-US" sz="1600" dirty="0">
              <a:solidFill>
                <a:srgbClr val="F5F8FF"/>
              </a:solidFill>
              <a:latin typeface="Noto Sans CJK SC" pitchFamily="34" charset="0"/>
              <a:ea typeface="Noto Sans CJK SC" pitchFamily="34" charset="-122"/>
              <a:cs typeface="Noto Sans CJK SC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43000" y="5532120"/>
            <a:ext cx="2743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F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谢谢观看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292840" y="649224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D6B9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2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3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4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5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6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7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8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9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10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11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12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13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ags/tag14.xml><?xml version="1.0" encoding="utf-8"?>
<p:tagLst xmlns:p="http://schemas.openxmlformats.org/presentationml/2006/main">
  <p:tag name="KSO_WM_DIAGRAM_VIRTUALLY_FRAME" val="{&quot;height&quot;:127.45,&quot;left&quot;:41.04,&quot;top&quot;:118.8,&quot;width&quot;:916.1600000000001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5471</Words>
  <Application>WPS 演示</Application>
  <PresentationFormat>On-screen Show (16:9)</PresentationFormat>
  <Paragraphs>434</Paragraphs>
  <Slides>17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1" baseType="lpstr">
      <vt:lpstr>Arial</vt:lpstr>
      <vt:lpstr>宋体</vt:lpstr>
      <vt:lpstr>Wingdings</vt:lpstr>
      <vt:lpstr>Noto Sans CJK SC</vt:lpstr>
      <vt:lpstr>Segoe Print</vt:lpstr>
      <vt:lpstr>Noto Sans CJK SC</vt:lpstr>
      <vt:lpstr>Noto Sans CJK SC</vt:lpstr>
      <vt:lpstr>微软雅黑</vt:lpstr>
      <vt:lpstr>Arial Unicode MS</vt:lpstr>
      <vt:lpstr>等线</vt:lpstr>
      <vt:lpstr>Calibri</vt:lpstr>
      <vt:lpstr>MingLiU-ExtB</vt:lpstr>
      <vt:lpstr>Saturday Sans Regular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多模型文件问答调度系统项目介绍</dc:title>
  <dc:creator>OpenAI</dc:creator>
  <dc:subject>Multi-Model File Q&amp;A Routing System</dc:subject>
  <cp:lastModifiedBy>微信用户</cp:lastModifiedBy>
  <cp:revision>12</cp:revision>
  <dcterms:created xsi:type="dcterms:W3CDTF">2026-06-18T06:09:00Z</dcterms:created>
  <dcterms:modified xsi:type="dcterms:W3CDTF">2026-06-22T02:37:06Z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2400FDAEEC6444F6AD98A7119BE97C15_12</vt:lpwstr>
  </property>
  <property fmtid="{D5CDD505-2E9C-101B-9397-08002B2CF9AE}" pid="3" name="KSOProductBuildVer">
    <vt:lpwstr>2052-12.1.0.26895</vt:lpwstr>
  </property>
</Properties>
</file>