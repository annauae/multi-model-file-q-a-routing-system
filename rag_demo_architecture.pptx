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8096" y="768096"/>
            <a:ext cx="2331720" cy="329184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/ LLM Routing / File QA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8096" y="1481328"/>
            <a:ext cx="9601200" cy="6949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微软雅黑" panose="020B0503020204020204" charset="-122"/>
              </a:rPr>
              <a:t>多模型文件问答调度系统</a:t>
            </a:r>
            <a:endParaRPr sz="3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2212848"/>
            <a:ext cx="9052560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300" b="0">
                <a:solidFill>
                  <a:srgbClr val="DBEAFE"/>
                </a:solidFill>
                <a:latin typeface="微软雅黑" panose="020B0503020204020204" charset="-122"/>
              </a:rPr>
              <a:t>从 RAG 原理到 Demo 架构与设计</a:t>
            </a:r>
            <a:endParaRPr sz="2300" b="0">
              <a:solidFill>
                <a:srgbClr val="DBEAFE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8412480" cy="6217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微软雅黑" panose="020B0503020204020204" charset="-122"/>
              </a:rPr>
              <a:t>基于 FastAPI、三模型分工、Route Questions 语义路由与全文上下文回答的长文档问答方案</a:t>
            </a:r>
            <a:endParaRPr sz="1600" b="0">
              <a:solidFill>
                <a:srgbClr val="CBD5E1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274320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074920"/>
            <a:ext cx="73152" cy="84124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239512"/>
            <a:ext cx="23774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微软雅黑" panose="020B0503020204020204" charset="-122"/>
              </a:rPr>
              <a:t>核心主题</a:t>
            </a:r>
            <a:endParaRPr sz="14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4763" y="5477764"/>
            <a:ext cx="2359152" cy="91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不是传统向量库 RAG，而是用 LLM 路由完成章节级检索选择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40480" y="5074920"/>
            <a:ext cx="274320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5074920"/>
            <a:ext cx="73152" cy="8412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1648" y="5239512"/>
            <a:ext cx="23774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微软雅黑" panose="020B0503020204020204" charset="-122"/>
              </a:rPr>
              <a:t>Demo 场景</a:t>
            </a:r>
            <a:endParaRPr sz="14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41648" y="5477764"/>
            <a:ext cx="2359152" cy="91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产品说明书 / 技术文档 / 相机手册问答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0" y="5074920"/>
            <a:ext cx="274320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5074920"/>
            <a:ext cx="73152" cy="8412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5239512"/>
            <a:ext cx="23774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微软雅黑" panose="020B0503020204020204" charset="-122"/>
              </a:rPr>
              <a:t>工程形态</a:t>
            </a:r>
            <a:endParaRPr sz="14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58533" y="5477764"/>
            <a:ext cx="2359152" cy="91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一个 FastAPI 服务 + 静态 Web 控制台 + 本地 JSON 持久化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为什么需要 RAG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LLM 本身不等于企业知识库。RAG 的目标是把外部、可追溯的知识带入生成过程。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02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32461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93392"/>
            <a:ext cx="30632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LLM 的天然短板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2432304"/>
            <a:ext cx="3044952" cy="24963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训练知识有时效性，无法自动知道本地文件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面对私有文档时容易编造或答非所问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回答缺少来源，业务上难以验真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290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3246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93392"/>
            <a:ext cx="30632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RAG 的基本思路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432304"/>
            <a:ext cx="3044952" cy="24963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先从知识库里找相关材料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把材料作为上下文交给大模型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让回答受证据约束，并返回引用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4290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73152" cy="32461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306324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适用场景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9328" y="2432304"/>
            <a:ext cx="3044952" cy="24963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产品说明书、制度文件、技术手册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内容频繁更新、但不希望重新训练模型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要求可追溯、可评测、可拒答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标准 RAG 怎么工作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典型链路是：文档预处理入库，在线检索相关片段，再让 LLM 基于片段生成回答。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03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691639" cy="8229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文档
切分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212848" y="2133295"/>
            <a:ext cx="310896" cy="213969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50591" y="1828800"/>
            <a:ext cx="1691639" cy="82296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Embedding
向量化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069079" y="2133295"/>
            <a:ext cx="310896" cy="213969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1691639" cy="8229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向量库
索引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925312" y="2133295"/>
            <a:ext cx="310896" cy="213969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1691639" cy="82296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Query
检索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781544" y="2133295"/>
            <a:ext cx="310896" cy="213969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9288" y="1828800"/>
            <a:ext cx="1691639" cy="8229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上下文
拼接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9637776" y="2133295"/>
            <a:ext cx="310896" cy="213969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19" y="1828800"/>
            <a:ext cx="1691639" cy="822960"/>
          </a:xfrm>
          <a:prstGeom prst="round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LLM
生成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246120"/>
            <a:ext cx="507492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246120"/>
            <a:ext cx="73152" cy="15544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410712"/>
            <a:ext cx="4709159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标准 RAG 的优势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4128" y="3849624"/>
            <a:ext cx="4690872" cy="8046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适合海量文档与跨文档召回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检索成本可控，重复查询效率高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检索、重排、生成可以分层优化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09360" y="3246120"/>
            <a:ext cx="507492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246120"/>
            <a:ext cx="73152" cy="1554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410712"/>
            <a:ext cx="4709159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标准 RAG 的工程成本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0528" y="3849624"/>
            <a:ext cx="4690872" cy="8046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需要 chunk 策略、embedding 模型和向量库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图表/版式/跨页语义处理更复杂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知识更新通常涉及重新入库与索引维护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这个 Demo 的定位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README 明确写到：不使用向量库 / RAG，不做文件预入库；每次问答实时读取本地知识文件。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04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6070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微软雅黑" panose="020B0503020204020204" charset="-122"/>
              </a:rPr>
              <a:t>更准确的表达：Route Questions 语义索引 + 全文 In-Context QA</a:t>
            </a:r>
            <a:endParaRPr sz="22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5146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75488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传统向量库 RAG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本 Demo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索引方式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chunk embedding + vector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初始化生成 route_questions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在线检索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向量相似度召回 Top-K 片段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LLM 选择最匹配的子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回答上下文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检索片段 +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完整 knowledge.md + 行号 + 插图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知识更新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通常需要重新入库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本地文件更新后实时读取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核心取舍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检索基建更重，适合大规模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部署轻，但受上下文窗口和 token 成本约束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877056" y="5440680"/>
            <a:ext cx="4434840" cy="32918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关键点：把“检索”从向量库召回，改成 LLM 章节级语义路由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Demo 整体架构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两级 Agent 结构：Router 负责总入口，Sub-Agent 对应文档章节或页段。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05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2423160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73152" cy="9875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20240"/>
            <a:ext cx="20574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Web 控制台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359152"/>
            <a:ext cx="203911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单问题测试 / 管理 / 批量测试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10712" y="1755648"/>
            <a:ext cx="2423160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1755648"/>
            <a:ext cx="73152" cy="9875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20574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FastAPI 编排层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2359152"/>
            <a:ext cx="203911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main.py 暴露问答、管理、预览和评测 API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63056" y="1755648"/>
            <a:ext cx="2423160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755648"/>
            <a:ext cx="73152" cy="9875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920240"/>
            <a:ext cx="20574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LLM 三模型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64224" y="2359152"/>
            <a:ext cx="203911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ROUTER / INIT / ANSWER 独立配置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15400" y="1755648"/>
            <a:ext cx="2423160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755648"/>
            <a:ext cx="73152" cy="9875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1920240"/>
            <a:ext cx="205740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本地持久化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16568" y="2359152"/>
            <a:ext cx="203911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routers.json / agents.json / files/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05840" y="3657600"/>
            <a:ext cx="2414015" cy="804672"/>
          </a:xfrm>
          <a:prstGeom prst="round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Router
总 Agent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3346703" y="3955328"/>
            <a:ext cx="310896" cy="209214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84448" y="3657600"/>
            <a:ext cx="2414015" cy="8046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Sub-Agent
章节 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5925312" y="3955328"/>
            <a:ext cx="310896" cy="209214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3056" y="3657600"/>
            <a:ext cx="2414015" cy="804672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knowledge.md
+ assets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8503919" y="3955328"/>
            <a:ext cx="310896" cy="209214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41663" y="3657600"/>
            <a:ext cx="2414015" cy="80467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ANSWER_MODEL
生成回答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" y="4919472"/>
            <a:ext cx="101498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微软雅黑" panose="020B0503020204020204" charset="-122"/>
              </a:rPr>
              <a:t>示例数据：config/routers.json 中存在“相机”总 Agent，源文件包含 PDF 说明书，下辖 20+ 个子 Agent。</a:t>
            </a:r>
            <a:endParaRPr sz="15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准备阶段：把长文档变成可路由的子 Agent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初始化阶段一次性生成 route_questions，作为后续语义路由的主要依据。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06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691639" cy="868680"/>
          </a:xfrm>
          <a:prstGeom prst="round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创建 Router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212848" y="2150211"/>
            <a:ext cx="310896" cy="225856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50591" y="1828800"/>
            <a:ext cx="1691639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上传 PDF/MD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069079" y="2150211"/>
            <a:ext cx="310896" cy="225856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1691639" cy="86868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配置页码/行号范围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925312" y="2150211"/>
            <a:ext cx="310896" cy="225856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1691639" cy="86868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切分子 Agent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781544" y="2150211"/>
            <a:ext cx="310896" cy="225856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9288" y="1828800"/>
            <a:ext cx="1691639" cy="8686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生成知识文件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9637776" y="2150211"/>
            <a:ext cx="310896" cy="225856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19" y="1828800"/>
            <a:ext cx="1691639" cy="8686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INIT_MODEL
生成问题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3383280"/>
            <a:ext cx="32918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83280"/>
            <a:ext cx="73152" cy="16002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547872"/>
            <a:ext cx="292608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切分产物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8408" y="3986784"/>
            <a:ext cx="2907792" cy="8503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• files/router_{id}/agent_{id}/md/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• knowledge_pX-Y.md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• assets/ 插图资源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34840" y="3383280"/>
            <a:ext cx="32918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83280"/>
            <a:ext cx="73152" cy="1600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547872"/>
            <a:ext cx="292608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初始化产物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36007" y="3986784"/>
            <a:ext cx="2907792" cy="8503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• 50-100 条 route_questions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• file_summaries 摘要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• agents.json 状态置为 initialized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92440" y="3383280"/>
            <a:ext cx="32918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83280"/>
            <a:ext cx="73152" cy="16002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3547872"/>
            <a:ext cx="292608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工程收益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93608" y="3986784"/>
            <a:ext cx="2907792" cy="8503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• 路由信号可解释，可人工编辑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• 不依赖数据库或向量库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微软雅黑" panose="020B0503020204020204" charset="-122"/>
              </a:rPr>
              <a:t>• 适合快速 Demo 和本地部署</a:t>
            </a:r>
            <a:endParaRPr sz="115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在线问答流程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POST /ask/stream 使用 SSE 输出路由日志、回答增量、引用、插图和耗时指标。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07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1722119" cy="868680"/>
          </a:xfrm>
          <a:prstGeom prst="round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用户提问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2179319" y="2104491"/>
            <a:ext cx="310896" cy="225856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17064" y="1783080"/>
            <a:ext cx="1722119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筛选 initialized
子 Agent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066031" y="2104491"/>
            <a:ext cx="310896" cy="225856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3775" y="1783080"/>
            <a:ext cx="1722119" cy="8686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ROUTER_MODEL
语义路由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952743" y="2104491"/>
            <a:ext cx="310896" cy="225856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0488" y="1783080"/>
            <a:ext cx="1722119" cy="86868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实时读取
knowledge.md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7839455" y="2104491"/>
            <a:ext cx="310896" cy="225856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77199" y="1783080"/>
            <a:ext cx="1722119" cy="86868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ANSWER_MODEL
流式回答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9726167" y="2104491"/>
            <a:ext cx="310896" cy="225856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63911" y="1783080"/>
            <a:ext cx="1722119" cy="8686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引用/插图
后处理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3383280"/>
            <a:ext cx="49834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383280"/>
            <a:ext cx="73152" cy="15087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547872"/>
            <a:ext cx="461772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匹配成功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4128" y="3986784"/>
            <a:ext cx="4599432" cy="7589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只选择 1 个最匹配子 Agent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完整知识带行号送入 system prompt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模型输出答案和【引用】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55080" y="3383280"/>
            <a:ext cx="49834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3383280"/>
            <a:ext cx="73152" cy="1508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547872"/>
            <a:ext cx="461772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14213D"/>
                </a:solidFill>
                <a:latin typeface="微软雅黑" panose="020B0503020204020204" charset="-122"/>
              </a:rPr>
              <a:t>无法匹配</a:t>
            </a:r>
            <a:endParaRPr sz="16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56248" y="3986784"/>
            <a:ext cx="4599432" cy="7589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返回 need_clarification=true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不调用任何子 Agent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</a:rPr>
              <a:t>• 避免把无关问题硬答成幻觉</a:t>
            </a:r>
            <a:endParaRPr sz="12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核心模块地图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后端模块按“编排、路由、初始化、回答、知识加载、评测”拆分。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08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728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852160"/>
                <a:gridCol w="2743200"/>
              </a:tblGrid>
              <a:tr h="50863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PPT 关键词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app/main.py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FastAPI 入口，统一暴露问答、管理、文件预览、批量测试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编排层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app/router.py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构造候选 Agent prompt，解析 ROUTER_MODEL 的 JSON 结果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语义路由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app/initializer.py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读取知识，生成 route_questions 与摘要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离线初始化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app/agent_runner.py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执行回答、流式输出、引用与插图合并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在线问答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app/knowledge_loader.py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知识加载、行号标注、图片引用解析、system prompt 构建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可信上下文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app/agent_split.py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PDF/MD 按页或行切分为子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文档管线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635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app/llm_client.py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OpenAI 兼容封装，支持流式与网关开关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多模型接入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可信回答设计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目标不是“看起来会答”，而是能定位依据、能展示插图、不能回答时明确拒答。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09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24612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2788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行号引用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2432304"/>
            <a:ext cx="2862072" cy="20391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knowledge.md 加 L{n} 行号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回答中使用【引用】格式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前端可展示原文片段与页码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24612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73152" cy="27889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993392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图文联动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1728" y="2432304"/>
            <a:ext cx="2862072" cy="20391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Markdown 图片和 PDF 页可作为资产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ANSWER_WITH_IMAGES 控制是否送图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引用附近插图可合并展示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75320" y="1828800"/>
            <a:ext cx="324612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828800"/>
            <a:ext cx="73152" cy="2788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993392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拒答与评测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76488" y="2432304"/>
            <a:ext cx="2862072" cy="203911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无路由时 need_clarification=true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知识内未找到时不强行补全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批量测试用 LLM 评估准确率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三模型分工与配置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路由轻、初始化离线、回答重；三个阶段可按成本和能力分别选型。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10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24612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73152" cy="2423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47672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ROUTER_MODEL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976" y="2386584"/>
            <a:ext cx="2862072" cy="16733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输入：用户问题 + 各 Agent route_questions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输出：严格 JSON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目标：低延迟、语义判断稳定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60" y="1783080"/>
            <a:ext cx="324612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73152" cy="2423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947672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INIT_MODEL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1728" y="2386584"/>
            <a:ext cx="2862072" cy="16733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输入：子 Agent 知识内容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输出：50-100 条典型问题 + 摘要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目标：一次性离线成本，换取可解释路由信号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11312" y="1783080"/>
            <a:ext cx="324612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2" y="1783080"/>
            <a:ext cx="73152" cy="24231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47672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ANSWER_MODEL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0" y="2386584"/>
            <a:ext cx="2862072" cy="167335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输入：完整知识、规则、图片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输出：答案、引用、可选插图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目标：长上下文、遵循证据、支持多模态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4800600"/>
            <a:ext cx="100584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微软雅黑" panose="020B0503020204020204" charset="-122"/>
              </a:rPr>
              <a:t>.env.example 支持 OpenAI 兼容 API、火山方舟网关开关、MAX_FILE_CHARS、ANSWER_WITH_IMAGES、MOCK_LLM 等配置。</a:t>
            </a:r>
            <a:endParaRPr sz="14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Demo 与工程化能力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前端是原生 HTML/CSS/JS 控制台，后端提供完整管理、预览、测试和批量评测接口。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11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324612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37360"/>
            <a:ext cx="73152" cy="246888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01952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Web 三个 Tab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976" y="2340864"/>
            <a:ext cx="2862072" cy="17190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单问题测试：查看路由、回答、日志、耗时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管理：Router、子 Agent、文件和初始化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批量测试：导入用例并运行评估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24612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73152" cy="2468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901952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接口覆盖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1728" y="2340864"/>
            <a:ext cx="2862072" cy="17190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POST /ask 与 /ask/stream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Router / Agent CRUD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文件树、原文预览、PDF 页面预览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11312" y="1737360"/>
            <a:ext cx="324612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2" y="1737360"/>
            <a:ext cx="73152" cy="24688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01952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微软雅黑" panose="020B0503020204020204" charset="-122"/>
              </a:rPr>
              <a:t>测试友好</a:t>
            </a:r>
            <a:endParaRPr sz="18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0" y="2340864"/>
            <a:ext cx="2862072" cy="171907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pytest + httpx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MOCK_LLM=1 可离线测试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微软雅黑" panose="020B0503020204020204" charset="-122"/>
              </a:rPr>
              <a:t>• batch_evaluator.py 做回答准确率评估</a:t>
            </a:r>
            <a:endParaRPr sz="13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794760" y="4828032"/>
            <a:ext cx="4754880" cy="329184"/>
          </a:xfrm>
          <a:prstGeom prst="round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一句话 Demo：上传相机说明书 → 按页切 Agent → 提问 → 路由到章节 → 流式回答 + 引用/插图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10896"/>
            <a:ext cx="1545336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RAG Demo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13232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14213D"/>
                </a:solidFill>
                <a:latin typeface="微软雅黑" panose="020B0503020204020204" charset="-122"/>
              </a:rPr>
              <a:t>设计取舍与演进方向</a:t>
            </a:r>
            <a:endParaRPr sz="25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89611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微软雅黑" panose="020B0503020204020204" charset="-122"/>
              </a:rPr>
              <a:t>这个方案部署轻、可解释，但需要清楚上下文窗口、token 成本和跨章节问题的边界。</a:t>
            </a:r>
            <a:endParaRPr sz="12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6446520"/>
            <a:ext cx="5029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multi-model-file-Q-A-routing-system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28832" y="6446520"/>
            <a:ext cx="457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微软雅黑" panose="020B0503020204020204" charset="-122"/>
              </a:rPr>
              <a:t>12</a:t>
            </a:r>
            <a:endParaRPr sz="8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9728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754880"/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选择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收益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代价 / 风险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不用向量库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部署简单，知识更新即生效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大文件 token 消耗高，规模化受限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单 Agent 调度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答案聚焦，减少多 Agent 冲突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跨章节问题可能需要拆问或二次路由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全文上下文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引用准确，减少 chunk 丢信息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受上下文窗口和 MAX_FILE_CHARS 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LLM 路由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能理解口语化和模糊问法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75569"/>
                          </a:solidFill>
                          <a:latin typeface="微软雅黑" panose="020B0503020204020204" charset="-122"/>
                        </a:defRPr>
                      </a:pPr>
                      <a:r>
                        <a:t>依赖 route_questions 质量和路由模型稳定性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892040"/>
            <a:ext cx="32461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892040"/>
            <a:ext cx="73152" cy="8412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056631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微软雅黑" panose="020B0503020204020204" charset="-122"/>
              </a:rPr>
              <a:t>可扩展方向</a:t>
            </a:r>
            <a:endParaRPr sz="14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9848" y="5325364"/>
            <a:ext cx="2862072" cy="91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混合向量检索、跨 Agent 汇总、多轮澄清、数据库持久化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80560" y="4892040"/>
            <a:ext cx="32461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4892040"/>
            <a:ext cx="73152" cy="8412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5056631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微软雅黑" panose="020B0503020204020204" charset="-122"/>
              </a:rPr>
              <a:t>适合阶段</a:t>
            </a:r>
            <a:endParaRPr sz="14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72203" y="5325364"/>
            <a:ext cx="2862072" cy="91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PoC、内部知识库 Demo、说明书级问答验证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4892040"/>
            <a:ext cx="32461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4892040"/>
            <a:ext cx="73152" cy="8412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5056631"/>
            <a:ext cx="2880360" cy="3108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微软雅黑" panose="020B0503020204020204" charset="-122"/>
              </a:rPr>
              <a:t>总结</a:t>
            </a:r>
            <a:endParaRPr sz="1400" b="1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75193" y="5367909"/>
            <a:ext cx="2862072" cy="91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 panose="020B0503020204020204" charset="-122"/>
              </a:rPr>
              <a:t>用轻量工程实现可追溯的长文档问答闭环</a:t>
            </a:r>
            <a:endParaRPr sz="1100" b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4003</Words>
  <Application>WPS 演示</Application>
  <PresentationFormat>On-screen Show (4:3)</PresentationFormat>
  <Paragraphs>440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zzy</cp:lastModifiedBy>
  <cp:revision>2</cp:revision>
  <dcterms:created xsi:type="dcterms:W3CDTF">2013-01-27T09:14:00Z</dcterms:created>
  <dcterms:modified xsi:type="dcterms:W3CDTF">2026-06-18T05:33:58Z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D17A6ED358BC41CA8D29CE19304C5A62_12</vt:lpwstr>
  </property>
  <property fmtid="{D5CDD505-2E9C-101B-9397-08002B2CF9AE}" pid="3" name="KSOProductBuildVer">
    <vt:lpwstr>2052-12.1.0.26895</vt:lpwstr>
  </property>
</Properties>
</file>