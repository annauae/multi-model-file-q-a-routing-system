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</p:sldIdLst>
  <p:sldSz cx="1219136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9" Type="http://schemas.openxmlformats.org/officeDocument/2006/relationships/tableStyles" Target="tableStyles.xml"/><Relationship Id="rId18" Type="http://schemas.openxmlformats.org/officeDocument/2006/relationships/viewProps" Target="viewProps.xml"/><Relationship Id="rId17" Type="http://schemas.openxmlformats.org/officeDocument/2006/relationships/presProps" Target="presProps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7.xml"/><Relationship Id="rId8" Type="http://schemas.openxmlformats.org/officeDocument/2006/relationships/tags" Target="../tags/tag8.xml"/><Relationship Id="rId7" Type="http://schemas.openxmlformats.org/officeDocument/2006/relationships/tags" Target="../tags/tag7.xml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4" Type="http://schemas.openxmlformats.org/officeDocument/2006/relationships/tags" Target="../tags/tag4.xml"/><Relationship Id="rId3" Type="http://schemas.openxmlformats.org/officeDocument/2006/relationships/tags" Target="../tags/tag3.xml"/><Relationship Id="rId2" Type="http://schemas.openxmlformats.org/officeDocument/2006/relationships/tags" Target="../tags/tag2.xml"/><Relationship Id="rId1" Type="http://schemas.openxmlformats.org/officeDocument/2006/relationships/tags" Target="../tags/tag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9" Type="http://schemas.openxmlformats.org/officeDocument/2006/relationships/tags" Target="../tags/tag17.xml"/><Relationship Id="rId8" Type="http://schemas.openxmlformats.org/officeDocument/2006/relationships/tags" Target="../tags/tag16.xml"/><Relationship Id="rId7" Type="http://schemas.openxmlformats.org/officeDocument/2006/relationships/tags" Target="../tags/tag15.xml"/><Relationship Id="rId6" Type="http://schemas.openxmlformats.org/officeDocument/2006/relationships/tags" Target="../tags/tag14.xml"/><Relationship Id="rId5" Type="http://schemas.openxmlformats.org/officeDocument/2006/relationships/tags" Target="../tags/tag13.xml"/><Relationship Id="rId4" Type="http://schemas.openxmlformats.org/officeDocument/2006/relationships/tags" Target="../tags/tag12.xml"/><Relationship Id="rId3" Type="http://schemas.openxmlformats.org/officeDocument/2006/relationships/tags" Target="../tags/tag11.xml"/><Relationship Id="rId2" Type="http://schemas.openxmlformats.org/officeDocument/2006/relationships/tags" Target="../tags/tag10.xml"/><Relationship Id="rId13" Type="http://schemas.openxmlformats.org/officeDocument/2006/relationships/slideLayout" Target="../slideLayouts/slideLayout7.xml"/><Relationship Id="rId12" Type="http://schemas.openxmlformats.org/officeDocument/2006/relationships/tags" Target="../tags/tag20.xml"/><Relationship Id="rId11" Type="http://schemas.openxmlformats.org/officeDocument/2006/relationships/tags" Target="../tags/tag19.xml"/><Relationship Id="rId10" Type="http://schemas.openxmlformats.org/officeDocument/2006/relationships/tags" Target="../tags/tag18.xml"/><Relationship Id="rId1" Type="http://schemas.openxmlformats.org/officeDocument/2006/relationships/tags" Target="../tags/tag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68096" y="749808"/>
            <a:ext cx="2331720" cy="329184"/>
          </a:xfrm>
          <a:prstGeom prst="roundRect">
            <a:avLst/>
          </a:prstGeom>
          <a:solidFill>
            <a:srgbClr val="0891B2"/>
          </a:solidFill>
          <a:ln>
            <a:solidFill>
              <a:srgbClr val="0891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 panose="020B0503020204020204" charset="-122"/>
              </a:rPr>
              <a:t>RAG / LLM Routing / File QA</a:t>
            </a:r>
            <a:endParaRPr sz="10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68096" y="1417320"/>
            <a:ext cx="9875520" cy="658368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3500" b="1">
                <a:solidFill>
                  <a:srgbClr val="FFFFFF"/>
                </a:solidFill>
                <a:latin typeface="微软雅黑" panose="020B0503020204020204" charset="-122"/>
              </a:rPr>
              <a:t>多模型文件问答调度系统</a:t>
            </a:r>
            <a:endParaRPr sz="35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04672" y="2139696"/>
            <a:ext cx="8961120" cy="41148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2100" b="0">
                <a:solidFill>
                  <a:srgbClr val="DBEAFE"/>
                </a:solidFill>
                <a:latin typeface="微软雅黑" panose="020B0503020204020204" charset="-122"/>
              </a:rPr>
              <a:t>当前实现梳理：从 RAG 到 Router/Sub-Agent 架构</a:t>
            </a:r>
            <a:endParaRPr sz="2100" b="0">
              <a:solidFill>
                <a:srgbClr val="DBEAFE"/>
              </a:solidFill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22960" y="2880360"/>
            <a:ext cx="9326880" cy="566928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1550" b="0">
                <a:solidFill>
                  <a:srgbClr val="CBD5E1"/>
                </a:solidFill>
                <a:latin typeface="微软雅黑" panose="020B0503020204020204" charset="-122"/>
              </a:rPr>
              <a:t>FastAPI + 三模型分工 + Route Questions 语义路由 + 全文知识回答 + 引用/插图展示</a:t>
            </a:r>
            <a:endParaRPr sz="1550" b="0">
              <a:solidFill>
                <a:srgbClr val="CBD5E1"/>
              </a:solidFill>
              <a:latin typeface="微软雅黑" panose="020B0503020204020204" charset="-122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822960" y="4983480"/>
            <a:ext cx="278892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4983480"/>
            <a:ext cx="64008" cy="868680"/>
          </a:xfrm>
          <a:prstGeom prst="rect">
            <a:avLst/>
          </a:prstGeom>
          <a:solidFill>
            <a:srgbClr val="0891B2"/>
          </a:solidFill>
          <a:ln>
            <a:solidFill>
              <a:srgbClr val="0891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5129784"/>
            <a:ext cx="2468879" cy="292608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微软雅黑" panose="020B0503020204020204" charset="-122"/>
              </a:rPr>
              <a:t>当前重点</a:t>
            </a:r>
            <a:endParaRPr sz="1400" b="1">
              <a:solidFill>
                <a:srgbClr val="0F172A"/>
              </a:solidFill>
              <a:latin typeface="微软雅黑" panose="020B0503020204020204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005840" y="5422138"/>
            <a:ext cx="2468879" cy="210311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微软雅黑" panose="020B0503020204020204" charset="-122"/>
              </a:rPr>
              <a:t>以代码和配置现状为准：Router 总 Agent → Sub-Agent 子 Agent</a:t>
            </a:r>
            <a:endParaRPr sz="1100" b="0">
              <a:solidFill>
                <a:srgbClr val="475569"/>
              </a:solidFill>
              <a:latin typeface="微软雅黑" panose="020B0503020204020204" charset="-122"/>
            </a:endParaRPr>
          </a:p>
        </p:txBody>
      </p:sp>
      <p:sp>
        <p:nvSpPr>
          <p:cNvPr id="10" name="Rounded Rectangle 9"/>
          <p:cNvSpPr/>
          <p:nvPr>
            <p:custDataLst>
              <p:tags r:id="rId1"/>
            </p:custDataLst>
          </p:nvPr>
        </p:nvSpPr>
        <p:spPr>
          <a:xfrm>
            <a:off x="3840480" y="4983480"/>
            <a:ext cx="278892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>
            <p:custDataLst>
              <p:tags r:id="rId2"/>
            </p:custDataLst>
          </p:nvPr>
        </p:nvSpPr>
        <p:spPr>
          <a:xfrm>
            <a:off x="3840480" y="4983480"/>
            <a:ext cx="64008" cy="868680"/>
          </a:xfrm>
          <a:prstGeom prst="rect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>
            <p:custDataLst>
              <p:tags r:id="rId3"/>
            </p:custDataLst>
          </p:nvPr>
        </p:nvSpPr>
        <p:spPr>
          <a:xfrm>
            <a:off x="4023360" y="5129784"/>
            <a:ext cx="2468879" cy="292608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微软雅黑" panose="020B0503020204020204" charset="-122"/>
              </a:rPr>
              <a:t>Demo 数据</a:t>
            </a:r>
            <a:endParaRPr sz="1400" b="1">
              <a:solidFill>
                <a:srgbClr val="0F172A"/>
              </a:solidFill>
              <a:latin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>
            <p:custDataLst>
              <p:tags r:id="rId4"/>
            </p:custDataLst>
          </p:nvPr>
        </p:nvSpPr>
        <p:spPr>
          <a:xfrm>
            <a:off x="4000500" y="5422138"/>
            <a:ext cx="2468879" cy="210311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微软雅黑" panose="020B0503020204020204" charset="-122"/>
              </a:rPr>
              <a:t>相机 Router 已初始化，当前包含 34 个子 Agent</a:t>
            </a:r>
            <a:endParaRPr sz="1100" b="0">
              <a:solidFill>
                <a:srgbClr val="475569"/>
              </a:solidFill>
              <a:latin typeface="微软雅黑" panose="020B0503020204020204" charset="-122"/>
            </a:endParaRPr>
          </a:p>
        </p:txBody>
      </p:sp>
      <p:sp>
        <p:nvSpPr>
          <p:cNvPr id="14" name="Rounded Rectangle 13"/>
          <p:cNvSpPr/>
          <p:nvPr>
            <p:custDataLst>
              <p:tags r:id="rId5"/>
            </p:custDataLst>
          </p:nvPr>
        </p:nvSpPr>
        <p:spPr>
          <a:xfrm>
            <a:off x="6858000" y="4983480"/>
            <a:ext cx="278892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>
            <p:custDataLst>
              <p:tags r:id="rId6"/>
            </p:custDataLst>
          </p:nvPr>
        </p:nvSpPr>
        <p:spPr>
          <a:xfrm>
            <a:off x="6858000" y="4983480"/>
            <a:ext cx="64008" cy="868680"/>
          </a:xfrm>
          <a:prstGeom prst="rect">
            <a:avLst/>
          </a:prstGeom>
          <a:solidFill>
            <a:srgbClr val="EA580C"/>
          </a:solidFill>
          <a:ln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>
            <p:custDataLst>
              <p:tags r:id="rId7"/>
            </p:custDataLst>
          </p:nvPr>
        </p:nvSpPr>
        <p:spPr>
          <a:xfrm>
            <a:off x="7040880" y="5129784"/>
            <a:ext cx="2468879" cy="292608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微软雅黑" panose="020B0503020204020204" charset="-122"/>
              </a:rPr>
              <a:t>定位</a:t>
            </a:r>
            <a:endParaRPr sz="1400" b="1">
              <a:solidFill>
                <a:srgbClr val="0F172A"/>
              </a:solidFill>
              <a:latin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>
            <p:custDataLst>
              <p:tags r:id="rId8"/>
            </p:custDataLst>
          </p:nvPr>
        </p:nvSpPr>
        <p:spPr>
          <a:xfrm>
            <a:off x="6995160" y="5422138"/>
            <a:ext cx="2468879" cy="210311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微软雅黑" panose="020B0503020204020204" charset="-122"/>
              </a:rPr>
              <a:t>不是经典向量库 RAG，而是 LLM 语义路由的文档问答</a:t>
            </a:r>
            <a:endParaRPr sz="1100" b="0">
              <a:solidFill>
                <a:srgbClr val="475569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30352" y="310896"/>
            <a:ext cx="1554480" cy="329184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 panose="020B0503020204020204" charset="-122"/>
              </a:rPr>
              <a:t>RAG Demo 更新版</a:t>
            </a:r>
            <a:endParaRPr sz="10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30352" y="749808"/>
            <a:ext cx="8412480" cy="41148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微软雅黑" panose="020B0503020204020204" charset="-122"/>
              </a:rPr>
              <a:t>背景与痛点</a:t>
            </a:r>
            <a:endParaRPr sz="2400" b="1">
              <a:solidFill>
                <a:srgbClr val="0F172A"/>
              </a:solidFill>
              <a:latin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66928" y="1207008"/>
            <a:ext cx="10424160" cy="292608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微软雅黑" panose="020B0503020204020204" charset="-122"/>
              </a:rPr>
              <a:t>长说明书问答的难点不只是“找到文本”，还包括章节边界、插图和可追溯性。</a:t>
            </a:r>
            <a:endParaRPr sz="1200" b="0">
              <a:solidFill>
                <a:srgbClr val="64748B"/>
              </a:solidFill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1064240" y="6446520"/>
            <a:ext cx="566928" cy="18288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r"/>
            <a:r>
              <a:rPr sz="850" b="0">
                <a:solidFill>
                  <a:srgbClr val="64748B"/>
                </a:solidFill>
                <a:latin typeface="微软雅黑" panose="020B0503020204020204" charset="-122"/>
              </a:rPr>
              <a:t>02</a:t>
            </a:r>
            <a:endParaRPr sz="850" b="0">
              <a:solidFill>
                <a:srgbClr val="64748B"/>
              </a:solidFill>
              <a:latin typeface="微软雅黑" panose="020B0503020204020204" charset="-122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85800" y="1828800"/>
            <a:ext cx="3246120" cy="283464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828800"/>
            <a:ext cx="64008" cy="2834640"/>
          </a:xfrm>
          <a:prstGeom prst="rect">
            <a:avLst/>
          </a:prstGeom>
          <a:solidFill>
            <a:srgbClr val="DC2626"/>
          </a:solidFill>
          <a:ln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975104"/>
            <a:ext cx="2926079" cy="292608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微软雅黑" panose="020B0503020204020204" charset="-122"/>
              </a:rPr>
              <a:t>长文档复杂</a:t>
            </a:r>
            <a:endParaRPr sz="1600" b="1">
              <a:solidFill>
                <a:srgbClr val="0F172A"/>
              </a:solidFill>
              <a:latin typeface="微软雅黑" panose="020B0503020204020204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868680" y="2395728"/>
            <a:ext cx="2926079" cy="2176272"/>
          </a:xfrm>
          <a:prstGeom prst="rect">
            <a:avLst/>
          </a:prstGeom>
          <a:noFill/>
        </p:spPr>
        <p:txBody>
          <a:bodyPr wrap="square" lIns="54864" tIns="27432" rIns="54864" bIns="27432">
            <a:spAutoFit/>
          </a:bodyPr>
          <a:lstStyle/>
          <a:p>
            <a:pPr>
              <a:spcAft>
                <a:spcPts val="400"/>
              </a:spcAft>
            </a:pPr>
            <a:r>
              <a:rPr sz="1150" b="0">
                <a:solidFill>
                  <a:srgbClr val="475569"/>
                </a:solidFill>
                <a:latin typeface="微软雅黑" panose="020B0503020204020204" charset="-122"/>
              </a:rPr>
              <a:t>• 说明书页数多、章节密集</a:t>
            </a:r>
            <a:endParaRPr sz="1150" b="0">
              <a:solidFill>
                <a:srgbClr val="475569"/>
              </a:solidFill>
              <a:latin typeface="微软雅黑" panose="020B0503020204020204" charset="-122"/>
            </a:endParaRP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475569"/>
                </a:solidFill>
                <a:latin typeface="微软雅黑" panose="020B0503020204020204" charset="-122"/>
              </a:rPr>
              <a:t>• 用户问题往往是口语化表达</a:t>
            </a:r>
            <a:endParaRPr sz="1150" b="0">
              <a:solidFill>
                <a:srgbClr val="475569"/>
              </a:solidFill>
              <a:latin typeface="微软雅黑" panose="020B0503020204020204" charset="-122"/>
            </a:endParaRP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475569"/>
                </a:solidFill>
                <a:latin typeface="微软雅黑" panose="020B0503020204020204" charset="-122"/>
              </a:rPr>
              <a:t>• 跨页步骤和表格容易被切碎</a:t>
            </a:r>
            <a:endParaRPr sz="1150" b="0">
              <a:solidFill>
                <a:srgbClr val="475569"/>
              </a:solidFill>
              <a:latin typeface="微软雅黑" panose="020B0503020204020204" charset="-122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4480560" y="1828800"/>
            <a:ext cx="3246120" cy="283464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80560" y="1828800"/>
            <a:ext cx="64008" cy="2834640"/>
          </a:xfrm>
          <a:prstGeom prst="rect">
            <a:avLst/>
          </a:prstGeom>
          <a:solidFill>
            <a:srgbClr val="EA580C"/>
          </a:solidFill>
          <a:ln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3440" y="1975104"/>
            <a:ext cx="2926079" cy="292608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微软雅黑" panose="020B0503020204020204" charset="-122"/>
              </a:rPr>
              <a:t>图文混合</a:t>
            </a:r>
            <a:endParaRPr sz="1600" b="1">
              <a:solidFill>
                <a:srgbClr val="0F172A"/>
              </a:solidFill>
              <a:latin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4663440" y="2395728"/>
            <a:ext cx="2926079" cy="2176272"/>
          </a:xfrm>
          <a:prstGeom prst="rect">
            <a:avLst/>
          </a:prstGeom>
          <a:noFill/>
        </p:spPr>
        <p:txBody>
          <a:bodyPr wrap="square" lIns="54864" tIns="27432" rIns="54864" bIns="27432">
            <a:spAutoFit/>
          </a:bodyPr>
          <a:lstStyle/>
          <a:p>
            <a:pPr>
              <a:spcAft>
                <a:spcPts val="400"/>
              </a:spcAft>
            </a:pPr>
            <a:r>
              <a:rPr sz="1150" b="0">
                <a:solidFill>
                  <a:srgbClr val="475569"/>
                </a:solidFill>
                <a:latin typeface="微软雅黑" panose="020B0503020204020204" charset="-122"/>
              </a:rPr>
              <a:t>• 很多答案依赖操作图示</a:t>
            </a:r>
            <a:endParaRPr sz="1150" b="0">
              <a:solidFill>
                <a:srgbClr val="475569"/>
              </a:solidFill>
              <a:latin typeface="微软雅黑" panose="020B0503020204020204" charset="-122"/>
            </a:endParaRP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475569"/>
                </a:solidFill>
                <a:latin typeface="微软雅黑" panose="020B0503020204020204" charset="-122"/>
              </a:rPr>
              <a:t>• Markdown 图片与 PDF 页需要联动</a:t>
            </a:r>
            <a:endParaRPr sz="1150" b="0">
              <a:solidFill>
                <a:srgbClr val="475569"/>
              </a:solidFill>
              <a:latin typeface="微软雅黑" panose="020B0503020204020204" charset="-122"/>
            </a:endParaRP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475569"/>
                </a:solidFill>
                <a:latin typeface="微软雅黑" panose="020B0503020204020204" charset="-122"/>
              </a:rPr>
              <a:t>• 仅文本检索容易丢失视觉证据</a:t>
            </a:r>
            <a:endParaRPr sz="1150" b="0">
              <a:solidFill>
                <a:srgbClr val="475569"/>
              </a:solidFill>
              <a:latin typeface="微软雅黑" panose="020B0503020204020204" charset="-122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8275320" y="1828800"/>
            <a:ext cx="3246120" cy="283464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75320" y="1828800"/>
            <a:ext cx="64008" cy="2834640"/>
          </a:xfrm>
          <a:prstGeom prst="rect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58200" y="1975104"/>
            <a:ext cx="2926079" cy="292608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微软雅黑" panose="020B0503020204020204" charset="-122"/>
              </a:rPr>
              <a:t>可信回答</a:t>
            </a:r>
            <a:endParaRPr sz="1600" b="1">
              <a:solidFill>
                <a:srgbClr val="0F172A"/>
              </a:solidFill>
              <a:latin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8458200" y="2395728"/>
            <a:ext cx="2926079" cy="2176272"/>
          </a:xfrm>
          <a:prstGeom prst="rect">
            <a:avLst/>
          </a:prstGeom>
          <a:noFill/>
        </p:spPr>
        <p:txBody>
          <a:bodyPr wrap="square" lIns="54864" tIns="27432" rIns="54864" bIns="27432">
            <a:spAutoFit/>
          </a:bodyPr>
          <a:lstStyle/>
          <a:p>
            <a:pPr>
              <a:spcAft>
                <a:spcPts val="400"/>
              </a:spcAft>
            </a:pPr>
            <a:r>
              <a:rPr sz="1150" b="0">
                <a:solidFill>
                  <a:srgbClr val="475569"/>
                </a:solidFill>
                <a:latin typeface="微软雅黑" panose="020B0503020204020204" charset="-122"/>
              </a:rPr>
              <a:t>• 需要能回到原文核验</a:t>
            </a:r>
            <a:endParaRPr sz="1150" b="0">
              <a:solidFill>
                <a:srgbClr val="475569"/>
              </a:solidFill>
              <a:latin typeface="微软雅黑" panose="020B0503020204020204" charset="-122"/>
            </a:endParaRP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475569"/>
                </a:solidFill>
                <a:latin typeface="微软雅黑" panose="020B0503020204020204" charset="-122"/>
              </a:rPr>
              <a:t>• 无依据时不能强答</a:t>
            </a:r>
            <a:endParaRPr sz="1150" b="0">
              <a:solidFill>
                <a:srgbClr val="475569"/>
              </a:solidFill>
              <a:latin typeface="微软雅黑" panose="020B0503020204020204" charset="-122"/>
            </a:endParaRP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475569"/>
                </a:solidFill>
                <a:latin typeface="微软雅黑" panose="020B0503020204020204" charset="-122"/>
              </a:rPr>
              <a:t>• 需要批量测试衡量质量</a:t>
            </a:r>
            <a:endParaRPr sz="1150" b="0">
              <a:solidFill>
                <a:srgbClr val="475569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30352" y="310896"/>
            <a:ext cx="1554480" cy="329184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 panose="020B0503020204020204" charset="-122"/>
              </a:rPr>
              <a:t>RAG Demo 更新版</a:t>
            </a:r>
            <a:endParaRPr sz="10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30352" y="749808"/>
            <a:ext cx="8412480" cy="41148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微软雅黑" panose="020B0503020204020204" charset="-122"/>
              </a:rPr>
              <a:t>标准 RAG 的基本链路</a:t>
            </a:r>
            <a:endParaRPr sz="2400" b="1">
              <a:solidFill>
                <a:srgbClr val="0F172A"/>
              </a:solidFill>
              <a:latin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66928" y="1207008"/>
            <a:ext cx="10424160" cy="292608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微软雅黑" panose="020B0503020204020204" charset="-122"/>
              </a:rPr>
              <a:t>传统 RAG 通常依赖 embedding 和向量库，把用户问题映射到相关 chunk 后再生成。</a:t>
            </a:r>
            <a:endParaRPr sz="1200" b="0">
              <a:solidFill>
                <a:srgbClr val="64748B"/>
              </a:solidFill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1064240" y="6446520"/>
            <a:ext cx="566928" cy="18288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r"/>
            <a:r>
              <a:rPr sz="850" b="0">
                <a:solidFill>
                  <a:srgbClr val="64748B"/>
                </a:solidFill>
                <a:latin typeface="微软雅黑" panose="020B0503020204020204" charset="-122"/>
              </a:rPr>
              <a:t>03</a:t>
            </a:r>
            <a:endParaRPr sz="850" b="0">
              <a:solidFill>
                <a:srgbClr val="64748B"/>
              </a:solidFill>
              <a:latin typeface="微软雅黑" panose="020B0503020204020204" charset="-122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594360" y="1828800"/>
            <a:ext cx="1699260" cy="82296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 panose="020B0503020204020204" charset="-122"/>
              </a:rPr>
              <a:t>文档切分</a:t>
            </a:r>
            <a:endParaRPr sz="12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7" name="Right Arrow 6"/>
          <p:cNvSpPr/>
          <p:nvPr/>
        </p:nvSpPr>
        <p:spPr>
          <a:xfrm>
            <a:off x="2229612" y="2133295"/>
            <a:ext cx="292608" cy="213969"/>
          </a:xfrm>
          <a:prstGeom prst="rightArrow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449068" y="1828800"/>
            <a:ext cx="1699260" cy="822960"/>
          </a:xfrm>
          <a:prstGeom prst="roundRect">
            <a:avLst/>
          </a:prstGeom>
          <a:solidFill>
            <a:srgbClr val="0891B2"/>
          </a:solidFill>
          <a:ln>
            <a:solidFill>
              <a:srgbClr val="0891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 panose="020B0503020204020204" charset="-122"/>
              </a:rPr>
              <a:t>Embedding</a:t>
            </a:r>
            <a:endParaRPr sz="12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9" name="Right Arrow 8"/>
          <p:cNvSpPr/>
          <p:nvPr/>
        </p:nvSpPr>
        <p:spPr>
          <a:xfrm>
            <a:off x="4084320" y="2133295"/>
            <a:ext cx="292608" cy="213969"/>
          </a:xfrm>
          <a:prstGeom prst="rightArrow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03776" y="1828800"/>
            <a:ext cx="1699260" cy="82296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 panose="020B0503020204020204" charset="-122"/>
              </a:rPr>
              <a:t>向量库索引</a:t>
            </a:r>
            <a:endParaRPr sz="12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1" name="Right Arrow 10"/>
          <p:cNvSpPr/>
          <p:nvPr/>
        </p:nvSpPr>
        <p:spPr>
          <a:xfrm>
            <a:off x="5939028" y="2133295"/>
            <a:ext cx="292608" cy="213969"/>
          </a:xfrm>
          <a:prstGeom prst="rightArrow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158484" y="1828800"/>
            <a:ext cx="1699260" cy="822960"/>
          </a:xfrm>
          <a:prstGeom prst="roundRect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 panose="020B0503020204020204" charset="-122"/>
              </a:rPr>
              <a:t>Top-K 检索</a:t>
            </a:r>
            <a:endParaRPr sz="12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3" name="Right Arrow 12"/>
          <p:cNvSpPr/>
          <p:nvPr/>
        </p:nvSpPr>
        <p:spPr>
          <a:xfrm>
            <a:off x="7793736" y="2133295"/>
            <a:ext cx="292608" cy="213969"/>
          </a:xfrm>
          <a:prstGeom prst="rightArrow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013192" y="1828800"/>
            <a:ext cx="1699260" cy="822960"/>
          </a:xfrm>
          <a:prstGeom prst="roundRect">
            <a:avLst/>
          </a:prstGeom>
          <a:solidFill>
            <a:srgbClr val="EA580C"/>
          </a:solidFill>
          <a:ln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 panose="020B0503020204020204" charset="-122"/>
              </a:rPr>
              <a:t>Prompt 拼接</a:t>
            </a:r>
            <a:endParaRPr sz="12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5" name="Right Arrow 14"/>
          <p:cNvSpPr/>
          <p:nvPr/>
        </p:nvSpPr>
        <p:spPr>
          <a:xfrm>
            <a:off x="9648444" y="2133295"/>
            <a:ext cx="292608" cy="213969"/>
          </a:xfrm>
          <a:prstGeom prst="rightArrow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867900" y="1828800"/>
            <a:ext cx="1699260" cy="822960"/>
          </a:xfrm>
          <a:prstGeom prst="round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 panose="020B0503020204020204" charset="-122"/>
              </a:rPr>
              <a:t>LLM 生成</a:t>
            </a:r>
            <a:endParaRPr sz="12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822960" y="3291840"/>
            <a:ext cx="4983480" cy="150876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60" y="3291840"/>
            <a:ext cx="64008" cy="1508760"/>
          </a:xfrm>
          <a:prstGeom prst="rect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3438144"/>
            <a:ext cx="4663440" cy="292608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微软雅黑" panose="020B0503020204020204" charset="-122"/>
              </a:rPr>
              <a:t>优势</a:t>
            </a:r>
            <a:endParaRPr sz="1500" b="1">
              <a:solidFill>
                <a:srgbClr val="0F172A"/>
              </a:solidFill>
              <a:latin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005840" y="3858768"/>
            <a:ext cx="4663440" cy="850392"/>
          </a:xfrm>
          <a:prstGeom prst="rect">
            <a:avLst/>
          </a:prstGeom>
          <a:noFill/>
        </p:spPr>
        <p:txBody>
          <a:bodyPr wrap="square" lIns="54864" tIns="27432" rIns="54864" bIns="27432">
            <a:spAutoFit/>
          </a:bodyPr>
          <a:lstStyle/>
          <a:p>
            <a:pPr>
              <a:spcAft>
                <a:spcPts val="400"/>
              </a:spcAft>
            </a:pPr>
            <a:r>
              <a:rPr sz="1150" b="0">
                <a:solidFill>
                  <a:srgbClr val="475569"/>
                </a:solidFill>
                <a:latin typeface="微软雅黑" panose="020B0503020204020204" charset="-122"/>
              </a:rPr>
              <a:t>• 适合海量文档、跨文档召回</a:t>
            </a:r>
            <a:endParaRPr sz="1150" b="0">
              <a:solidFill>
                <a:srgbClr val="475569"/>
              </a:solidFill>
              <a:latin typeface="微软雅黑" panose="020B0503020204020204" charset="-122"/>
            </a:endParaRP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475569"/>
                </a:solidFill>
                <a:latin typeface="微软雅黑" panose="020B0503020204020204" charset="-122"/>
              </a:rPr>
              <a:t>• 索引后在线检索成本较低</a:t>
            </a:r>
            <a:endParaRPr sz="1150" b="0">
              <a:solidFill>
                <a:srgbClr val="475569"/>
              </a:solidFill>
              <a:latin typeface="微软雅黑" panose="020B0503020204020204" charset="-122"/>
            </a:endParaRP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475569"/>
                </a:solidFill>
                <a:latin typeface="微软雅黑" panose="020B0503020204020204" charset="-122"/>
              </a:rPr>
              <a:t>• 可叠加重排、过滤和权限控制</a:t>
            </a:r>
            <a:endParaRPr sz="1150" b="0">
              <a:solidFill>
                <a:srgbClr val="475569"/>
              </a:solidFill>
              <a:latin typeface="微软雅黑" panose="020B0503020204020204" charset="-122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6355080" y="3291840"/>
            <a:ext cx="4983480" cy="150876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55080" y="3291840"/>
            <a:ext cx="64008" cy="1508760"/>
          </a:xfrm>
          <a:prstGeom prst="rect">
            <a:avLst/>
          </a:prstGeom>
          <a:solidFill>
            <a:srgbClr val="EA580C"/>
          </a:solidFill>
          <a:ln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37960" y="3438144"/>
            <a:ext cx="4663440" cy="292608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微软雅黑" panose="020B0503020204020204" charset="-122"/>
              </a:rPr>
              <a:t>成本</a:t>
            </a:r>
            <a:endParaRPr sz="1500" b="1">
              <a:solidFill>
                <a:srgbClr val="0F172A"/>
              </a:solidFill>
              <a:latin typeface="微软雅黑" panose="020B0503020204020204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6537960" y="3858768"/>
            <a:ext cx="4663440" cy="850392"/>
          </a:xfrm>
          <a:prstGeom prst="rect">
            <a:avLst/>
          </a:prstGeom>
          <a:noFill/>
        </p:spPr>
        <p:txBody>
          <a:bodyPr wrap="square" lIns="54864" tIns="27432" rIns="54864" bIns="27432">
            <a:spAutoFit/>
          </a:bodyPr>
          <a:lstStyle/>
          <a:p>
            <a:pPr>
              <a:spcAft>
                <a:spcPts val="400"/>
              </a:spcAft>
            </a:pPr>
            <a:r>
              <a:rPr sz="1150" b="0">
                <a:solidFill>
                  <a:srgbClr val="475569"/>
                </a:solidFill>
                <a:latin typeface="微软雅黑" panose="020B0503020204020204" charset="-122"/>
              </a:rPr>
              <a:t>• 需要 chunk 策略、embedding 模型和向量库</a:t>
            </a:r>
            <a:endParaRPr sz="1150" b="0">
              <a:solidFill>
                <a:srgbClr val="475569"/>
              </a:solidFill>
              <a:latin typeface="微软雅黑" panose="020B0503020204020204" charset="-122"/>
            </a:endParaRP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475569"/>
                </a:solidFill>
                <a:latin typeface="微软雅黑" panose="020B0503020204020204" charset="-122"/>
              </a:rPr>
              <a:t>• 图表、插图、跨页上下文处理复杂</a:t>
            </a:r>
            <a:endParaRPr sz="1150" b="0">
              <a:solidFill>
                <a:srgbClr val="475569"/>
              </a:solidFill>
              <a:latin typeface="微软雅黑" panose="020B0503020204020204" charset="-122"/>
            </a:endParaRP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475569"/>
                </a:solidFill>
                <a:latin typeface="微软雅黑" panose="020B0503020204020204" charset="-122"/>
              </a:rPr>
              <a:t>• 知识更新涉及重新入库或增量索引</a:t>
            </a:r>
            <a:endParaRPr sz="1150" b="0">
              <a:solidFill>
                <a:srgbClr val="475569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30352" y="310896"/>
            <a:ext cx="1554480" cy="329184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 panose="020B0503020204020204" charset="-122"/>
              </a:rPr>
              <a:t>RAG Demo 更新版</a:t>
            </a:r>
            <a:endParaRPr sz="10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30352" y="749808"/>
            <a:ext cx="8412480" cy="41148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微软雅黑" panose="020B0503020204020204" charset="-122"/>
              </a:rPr>
              <a:t>本项目的准确定位</a:t>
            </a:r>
            <a:endParaRPr sz="2400" b="1">
              <a:solidFill>
                <a:srgbClr val="0F172A"/>
              </a:solidFill>
              <a:latin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66928" y="1207008"/>
            <a:ext cx="10424160" cy="292608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微软雅黑" panose="020B0503020204020204" charset="-122"/>
              </a:rPr>
              <a:t>README 明确写到：不使用向量库 / RAG，不做文件预入库；每次问答实时读取本地知识文件。</a:t>
            </a:r>
            <a:endParaRPr sz="1200" b="0">
              <a:solidFill>
                <a:srgbClr val="64748B"/>
              </a:solidFill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1064240" y="6446520"/>
            <a:ext cx="566928" cy="18288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r"/>
            <a:r>
              <a:rPr sz="850" b="0">
                <a:solidFill>
                  <a:srgbClr val="64748B"/>
                </a:solidFill>
                <a:latin typeface="微软雅黑" panose="020B0503020204020204" charset="-122"/>
              </a:rPr>
              <a:t>04</a:t>
            </a:r>
            <a:endParaRPr sz="850" b="0">
              <a:solidFill>
                <a:srgbClr val="64748B"/>
              </a:solidFill>
              <a:latin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22960" y="1719072"/>
            <a:ext cx="10515600" cy="347472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ctr"/>
            <a:r>
              <a:rPr sz="2100" b="1">
                <a:solidFill>
                  <a:srgbClr val="2563EB"/>
                </a:solidFill>
                <a:latin typeface="微软雅黑" panose="020B0503020204020204" charset="-122"/>
              </a:rPr>
              <a:t>更准确的技术表达：Route Questions 语义路由 + 全文 In-Context QA</a:t>
            </a:r>
            <a:endParaRPr sz="2100" b="1">
              <a:solidFill>
                <a:srgbClr val="2563EB"/>
              </a:solidFill>
              <a:latin typeface="微软雅黑" panose="020B0503020204020204" charset="-122"/>
            </a:endParaRP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2395728"/>
          <a:ext cx="1088136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4389120"/>
                <a:gridCol w="4937760"/>
              </a:tblGrid>
              <a:tr h="419100"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微软雅黑" panose="020B0503020204020204" charset="-122"/>
                        </a:defRPr>
                      </a:pPr>
                      <a:r>
                        <a:t>维度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微软雅黑" panose="020B0503020204020204" charset="-122"/>
                        </a:defRPr>
                      </a:pPr>
                      <a:r>
                        <a:t>经典向量库 RAG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微软雅黑" panose="020B0503020204020204" charset="-122"/>
                        </a:defRPr>
                      </a:pPr>
                      <a:r>
                        <a:t>当前 Demo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020" b="0">
                          <a:solidFill>
                            <a:srgbClr val="475569"/>
                          </a:solidFill>
                          <a:latin typeface="微软雅黑" panose="020B0503020204020204" charset="-122"/>
                        </a:defRPr>
                      </a:pPr>
                      <a:r>
                        <a:t>索引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20" b="0">
                          <a:solidFill>
                            <a:srgbClr val="475569"/>
                          </a:solidFill>
                          <a:latin typeface="微软雅黑" panose="020B0503020204020204" charset="-122"/>
                        </a:defRPr>
                      </a:pPr>
                      <a:r>
                        <a:t>chunk embedding + vector store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20" b="0">
                          <a:solidFill>
                            <a:srgbClr val="475569"/>
                          </a:solidFill>
                          <a:latin typeface="微软雅黑" panose="020B0503020204020204" charset="-122"/>
                        </a:defRPr>
                      </a:pPr>
                      <a:r>
                        <a:t>初始化生成 route_questions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020" b="0">
                          <a:solidFill>
                            <a:srgbClr val="475569"/>
                          </a:solidFill>
                          <a:latin typeface="微软雅黑" panose="020B0503020204020204" charset="-122"/>
                        </a:defRPr>
                      </a:pPr>
                      <a:r>
                        <a:t>检索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20" b="0">
                          <a:solidFill>
                            <a:srgbClr val="475569"/>
                          </a:solidFill>
                          <a:latin typeface="微软雅黑" panose="020B0503020204020204" charset="-122"/>
                        </a:defRPr>
                      </a:pPr>
                      <a:r>
                        <a:t>向量相似度召回 Top-K 片段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20" b="0">
                          <a:solidFill>
                            <a:srgbClr val="475569"/>
                          </a:solidFill>
                          <a:latin typeface="微软雅黑" panose="020B0503020204020204" charset="-122"/>
                        </a:defRPr>
                      </a:pPr>
                      <a:r>
                        <a:t>ROUTER_MODEL 选择 1 个子 Agent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020" b="0">
                          <a:solidFill>
                            <a:srgbClr val="475569"/>
                          </a:solidFill>
                          <a:latin typeface="微软雅黑" panose="020B0503020204020204" charset="-122"/>
                        </a:defRPr>
                      </a:pPr>
                      <a:r>
                        <a:t>上下文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20" b="0">
                          <a:solidFill>
                            <a:srgbClr val="475569"/>
                          </a:solidFill>
                          <a:latin typeface="微软雅黑" panose="020B0503020204020204" charset="-122"/>
                        </a:defRPr>
                      </a:pPr>
                      <a:r>
                        <a:t>检索片段进入 prompt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20" b="0">
                          <a:solidFill>
                            <a:srgbClr val="475569"/>
                          </a:solidFill>
                          <a:latin typeface="微软雅黑" panose="020B0503020204020204" charset="-122"/>
                        </a:defRPr>
                      </a:pPr>
                      <a:r>
                        <a:t>完整 knowledge.md + 插图进入 system prompt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020" b="0">
                          <a:solidFill>
                            <a:srgbClr val="475569"/>
                          </a:solidFill>
                          <a:latin typeface="微软雅黑" panose="020B0503020204020204" charset="-122"/>
                        </a:defRPr>
                      </a:pPr>
                      <a:r>
                        <a:t>引用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20" b="0">
                          <a:solidFill>
                            <a:srgbClr val="475569"/>
                          </a:solidFill>
                          <a:latin typeface="微软雅黑" panose="020B0503020204020204" charset="-122"/>
                        </a:defRPr>
                      </a:pPr>
                      <a:r>
                        <a:t>chunk / source 引用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20" b="0">
                          <a:solidFill>
                            <a:srgbClr val="475569"/>
                          </a:solidFill>
                          <a:latin typeface="微软雅黑" panose="020B0503020204020204" charset="-122"/>
                        </a:defRPr>
                      </a:pPr>
                      <a:r>
                        <a:t>Markdown 行号、PDF 页和 assets 插图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020" b="0">
                          <a:solidFill>
                            <a:srgbClr val="475569"/>
                          </a:solidFill>
                          <a:latin typeface="微软雅黑" panose="020B0503020204020204" charset="-122"/>
                        </a:defRPr>
                      </a:pPr>
                      <a:r>
                        <a:t>更新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20" b="0">
                          <a:solidFill>
                            <a:srgbClr val="475569"/>
                          </a:solidFill>
                          <a:latin typeface="微软雅黑" panose="020B0503020204020204" charset="-122"/>
                        </a:defRPr>
                      </a:pPr>
                      <a:r>
                        <a:t>通常需要重新入库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20" b="0">
                          <a:solidFill>
                            <a:srgbClr val="475569"/>
                          </a:solidFill>
                          <a:latin typeface="微软雅黑" panose="020B0503020204020204" charset="-122"/>
                        </a:defRPr>
                      </a:pPr>
                      <a:r>
                        <a:t>本地文件实时读取，配置 JSON 持久化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3703320" y="5413248"/>
            <a:ext cx="4800600" cy="329184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 panose="020B0503020204020204" charset="-122"/>
              </a:rPr>
              <a:t>用 LLM 语义路由替代向量检索选章</a:t>
            </a:r>
            <a:endParaRPr sz="10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30352" y="310896"/>
            <a:ext cx="1554480" cy="329184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 panose="020B0503020204020204" charset="-122"/>
              </a:rPr>
              <a:t>RAG Demo 更新版</a:t>
            </a:r>
            <a:endParaRPr sz="10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30352" y="749808"/>
            <a:ext cx="8412480" cy="41148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微软雅黑" panose="020B0503020204020204" charset="-122"/>
              </a:rPr>
              <a:t>当前实现现状</a:t>
            </a:r>
            <a:endParaRPr sz="2400" b="1">
              <a:solidFill>
                <a:srgbClr val="0F172A"/>
              </a:solidFill>
              <a:latin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66928" y="1207008"/>
            <a:ext cx="10424160" cy="292608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微软雅黑" panose="020B0503020204020204" charset="-122"/>
              </a:rPr>
              <a:t>README 的基础流程仍成立，但代码和配置已经演进为双层 Agent 结构。</a:t>
            </a:r>
            <a:endParaRPr sz="1200" b="0">
              <a:solidFill>
                <a:srgbClr val="64748B"/>
              </a:solidFill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1064240" y="6446520"/>
            <a:ext cx="566928" cy="18288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r"/>
            <a:r>
              <a:rPr sz="850" b="0">
                <a:solidFill>
                  <a:srgbClr val="64748B"/>
                </a:solidFill>
                <a:latin typeface="微软雅黑" panose="020B0503020204020204" charset="-122"/>
              </a:rPr>
              <a:t>05</a:t>
            </a:r>
            <a:endParaRPr sz="850" b="0">
              <a:solidFill>
                <a:srgbClr val="64748B"/>
              </a:solidFill>
              <a:latin typeface="微软雅黑" panose="020B0503020204020204" charset="-122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3246120" cy="233172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783080"/>
            <a:ext cx="64008" cy="233172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29384"/>
            <a:ext cx="2926079" cy="292608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微软雅黑" panose="020B0503020204020204" charset="-122"/>
              </a:rPr>
              <a:t>Router 总 Agent</a:t>
            </a:r>
            <a:endParaRPr sz="1600" b="1">
              <a:solidFill>
                <a:srgbClr val="0F172A"/>
              </a:solidFill>
              <a:latin typeface="微软雅黑" panose="020B0503020204020204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914400" y="2350008"/>
            <a:ext cx="2926079" cy="1673351"/>
          </a:xfrm>
          <a:prstGeom prst="rect">
            <a:avLst/>
          </a:prstGeom>
          <a:noFill/>
        </p:spPr>
        <p:txBody>
          <a:bodyPr wrap="square" lIns="54864" tIns="27432" rIns="54864" bIns="27432">
            <a:spAutoFit/>
          </a:bodyPr>
          <a:lstStyle/>
          <a:p>
            <a:pPr>
              <a:spcAft>
                <a:spcPts val="400"/>
              </a:spcAft>
            </a:pPr>
            <a:r>
              <a:rPr sz="1150" b="0">
                <a:solidFill>
                  <a:srgbClr val="475569"/>
                </a:solidFill>
                <a:latin typeface="微软雅黑" panose="020B0503020204020204" charset="-122"/>
              </a:rPr>
              <a:t>• 业务域入口，例如“相机”</a:t>
            </a:r>
            <a:endParaRPr sz="1150" b="0">
              <a:solidFill>
                <a:srgbClr val="475569"/>
              </a:solidFill>
              <a:latin typeface="微软雅黑" panose="020B0503020204020204" charset="-122"/>
            </a:endParaRP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475569"/>
                </a:solidFill>
                <a:latin typeface="微软雅黑" panose="020B0503020204020204" charset="-122"/>
              </a:rPr>
              <a:t>• 配置在 config/routers.json</a:t>
            </a:r>
            <a:endParaRPr sz="1150" b="0">
              <a:solidFill>
                <a:srgbClr val="475569"/>
              </a:solidFill>
              <a:latin typeface="微软雅黑" panose="020B0503020204020204" charset="-122"/>
            </a:endParaRP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475569"/>
                </a:solidFill>
                <a:latin typeface="微软雅黑" panose="020B0503020204020204" charset="-122"/>
              </a:rPr>
              <a:t>• 保存 source_files、split_ranges、agent_ids</a:t>
            </a:r>
            <a:endParaRPr sz="1150" b="0">
              <a:solidFill>
                <a:srgbClr val="475569"/>
              </a:solidFill>
              <a:latin typeface="微软雅黑" panose="020B0503020204020204" charset="-122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4480560" y="1783080"/>
            <a:ext cx="3246120" cy="233172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80560" y="1783080"/>
            <a:ext cx="64008" cy="2331720"/>
          </a:xfrm>
          <a:prstGeom prst="rect">
            <a:avLst/>
          </a:prstGeom>
          <a:solidFill>
            <a:srgbClr val="0891B2"/>
          </a:solidFill>
          <a:ln>
            <a:solidFill>
              <a:srgbClr val="0891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3440" y="1929384"/>
            <a:ext cx="2926079" cy="292608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微软雅黑" panose="020B0503020204020204" charset="-122"/>
              </a:rPr>
              <a:t>Sub-Agent 子 Agent</a:t>
            </a:r>
            <a:endParaRPr sz="1600" b="1">
              <a:solidFill>
                <a:srgbClr val="0F172A"/>
              </a:solidFill>
              <a:latin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4663440" y="2350008"/>
            <a:ext cx="2926079" cy="1673351"/>
          </a:xfrm>
          <a:prstGeom prst="rect">
            <a:avLst/>
          </a:prstGeom>
          <a:noFill/>
        </p:spPr>
        <p:txBody>
          <a:bodyPr wrap="square" lIns="54864" tIns="27432" rIns="54864" bIns="27432">
            <a:spAutoFit/>
          </a:bodyPr>
          <a:lstStyle/>
          <a:p>
            <a:pPr>
              <a:spcAft>
                <a:spcPts val="400"/>
              </a:spcAft>
            </a:pPr>
            <a:r>
              <a:rPr sz="1150" b="0">
                <a:solidFill>
                  <a:srgbClr val="475569"/>
                </a:solidFill>
                <a:latin typeface="微软雅黑" panose="020B0503020204020204" charset="-122"/>
              </a:rPr>
              <a:t>• 一个页段或专题对应一个子 Agent</a:t>
            </a:r>
            <a:endParaRPr sz="1150" b="0">
              <a:solidFill>
                <a:srgbClr val="475569"/>
              </a:solidFill>
              <a:latin typeface="微软雅黑" panose="020B0503020204020204" charset="-122"/>
            </a:endParaRP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475569"/>
                </a:solidFill>
                <a:latin typeface="微软雅黑" panose="020B0503020204020204" charset="-122"/>
              </a:rPr>
              <a:t>• 配置在 files/router_{id}/agents.json</a:t>
            </a:r>
            <a:endParaRPr sz="1150" b="0">
              <a:solidFill>
                <a:srgbClr val="475569"/>
              </a:solidFill>
              <a:latin typeface="微软雅黑" panose="020B0503020204020204" charset="-122"/>
            </a:endParaRP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475569"/>
                </a:solidFill>
                <a:latin typeface="微软雅黑" panose="020B0503020204020204" charset="-122"/>
              </a:rPr>
              <a:t>• 保存 route_questions、knowledge、files</a:t>
            </a:r>
            <a:endParaRPr sz="1150" b="0">
              <a:solidFill>
                <a:srgbClr val="475569"/>
              </a:solidFill>
              <a:latin typeface="微软雅黑" panose="020B0503020204020204" charset="-122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8229600" y="1783080"/>
            <a:ext cx="3246120" cy="233172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0" y="1783080"/>
            <a:ext cx="64008" cy="2331720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0" y="1929384"/>
            <a:ext cx="2926079" cy="292608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微软雅黑" panose="020B0503020204020204" charset="-122"/>
              </a:rPr>
              <a:t>AskRequest</a:t>
            </a:r>
            <a:endParaRPr sz="1600" b="1">
              <a:solidFill>
                <a:srgbClr val="0F172A"/>
              </a:solidFill>
              <a:latin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8412480" y="2350008"/>
            <a:ext cx="2926079" cy="1673351"/>
          </a:xfrm>
          <a:prstGeom prst="rect">
            <a:avLst/>
          </a:prstGeom>
          <a:noFill/>
        </p:spPr>
        <p:txBody>
          <a:bodyPr wrap="square" lIns="54864" tIns="27432" rIns="54864" bIns="27432">
            <a:spAutoFit/>
          </a:bodyPr>
          <a:lstStyle/>
          <a:p>
            <a:pPr>
              <a:spcAft>
                <a:spcPts val="400"/>
              </a:spcAft>
            </a:pPr>
            <a:r>
              <a:rPr sz="1150" b="0">
                <a:solidFill>
                  <a:srgbClr val="475569"/>
                </a:solidFill>
                <a:latin typeface="微软雅黑" panose="020B0503020204020204" charset="-122"/>
              </a:rPr>
              <a:t>• question：用户问题</a:t>
            </a:r>
            <a:endParaRPr sz="1150" b="0">
              <a:solidFill>
                <a:srgbClr val="475569"/>
              </a:solidFill>
              <a:latin typeface="微软雅黑" panose="020B0503020204020204" charset="-122"/>
            </a:endParaRP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475569"/>
                </a:solidFill>
                <a:latin typeface="微软雅黑" panose="020B0503020204020204" charset="-122"/>
              </a:rPr>
              <a:t>• router_id：必须指定总 Agent ID</a:t>
            </a:r>
            <a:endParaRPr sz="1150" b="0">
              <a:solidFill>
                <a:srgbClr val="475569"/>
              </a:solidFill>
              <a:latin typeface="微软雅黑" panose="020B0503020204020204" charset="-122"/>
            </a:endParaRP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475569"/>
                </a:solidFill>
                <a:latin typeface="微软雅黑" panose="020B0503020204020204" charset="-122"/>
              </a:rPr>
              <a:t>• 只在该 Router 下选择候选子 Agent</a:t>
            </a:r>
            <a:endParaRPr sz="1150" b="0">
              <a:solidFill>
                <a:srgbClr val="475569"/>
              </a:solidFill>
              <a:latin typeface="微软雅黑" panose="020B050302020402020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914400" y="4736592"/>
            <a:ext cx="10241280" cy="45720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ctr"/>
            <a:r>
              <a:rPr sz="1500" b="1">
                <a:solidFill>
                  <a:srgbClr val="475569"/>
                </a:solidFill>
                <a:latin typeface="微软雅黑" panose="020B0503020204020204" charset="-122"/>
              </a:rPr>
              <a:t>PPT 以当前代码和配置为准：Router 限定业务域，Sub-Agent 承载可回答的章节知识。</a:t>
            </a:r>
            <a:endParaRPr sz="1500" b="1">
              <a:solidFill>
                <a:srgbClr val="475569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30352" y="310896"/>
            <a:ext cx="1554480" cy="329184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 panose="020B0503020204020204" charset="-122"/>
              </a:rPr>
              <a:t>RAG Demo 更新版</a:t>
            </a:r>
            <a:endParaRPr sz="10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30352" y="749808"/>
            <a:ext cx="8412480" cy="41148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微软雅黑" panose="020B0503020204020204" charset="-122"/>
              </a:rPr>
              <a:t>系统架构总览</a:t>
            </a:r>
            <a:endParaRPr sz="2400" b="1">
              <a:solidFill>
                <a:srgbClr val="0F172A"/>
              </a:solidFill>
              <a:latin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66928" y="1207008"/>
            <a:ext cx="10424160" cy="292608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微软雅黑" panose="020B0503020204020204" charset="-122"/>
              </a:rPr>
              <a:t>一个 FastAPI 服务编排 Web、Router/Agent 配置、本地知识文件和 OpenAI 兼容模型。</a:t>
            </a:r>
            <a:endParaRPr sz="1200" b="0">
              <a:solidFill>
                <a:srgbClr val="64748B"/>
              </a:solidFill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1064240" y="6446520"/>
            <a:ext cx="566928" cy="18288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r"/>
            <a:r>
              <a:rPr sz="850" b="0">
                <a:solidFill>
                  <a:srgbClr val="64748B"/>
                </a:solidFill>
                <a:latin typeface="微软雅黑" panose="020B0503020204020204" charset="-122"/>
              </a:rPr>
              <a:t>06</a:t>
            </a:r>
            <a:endParaRPr sz="850" b="0">
              <a:solidFill>
                <a:srgbClr val="64748B"/>
              </a:solidFill>
              <a:latin typeface="微软雅黑" panose="020B0503020204020204" charset="-122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85800" y="1783080"/>
            <a:ext cx="2042769" cy="841248"/>
          </a:xfrm>
          <a:prstGeom prst="roundRect">
            <a:avLst/>
          </a:prstGeom>
          <a:solidFill>
            <a:srgbClr val="0891B2"/>
          </a:solidFill>
          <a:ln>
            <a:solidFill>
              <a:srgbClr val="0891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 panose="020B0503020204020204" charset="-122"/>
              </a:rPr>
              <a:t>Web 控制台
测试/管理/批测</a:t>
            </a:r>
            <a:endParaRPr sz="12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7" name="Right Arrow 6"/>
          <p:cNvSpPr/>
          <p:nvPr/>
        </p:nvSpPr>
        <p:spPr>
          <a:xfrm>
            <a:off x="2664561" y="2094341"/>
            <a:ext cx="292608" cy="218724"/>
          </a:xfrm>
          <a:prstGeom prst="rightArrow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884017" y="1783080"/>
            <a:ext cx="2042769" cy="841248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 panose="020B0503020204020204" charset="-122"/>
              </a:rPr>
              <a:t>FastAPI
main.py</a:t>
            </a:r>
            <a:endParaRPr sz="12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9" name="Right Arrow 8"/>
          <p:cNvSpPr/>
          <p:nvPr/>
        </p:nvSpPr>
        <p:spPr>
          <a:xfrm>
            <a:off x="4862779" y="2094341"/>
            <a:ext cx="292608" cy="218724"/>
          </a:xfrm>
          <a:prstGeom prst="rightArrow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82235" y="1783080"/>
            <a:ext cx="2042769" cy="841248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 panose="020B0503020204020204" charset="-122"/>
              </a:rPr>
              <a:t>Router
语义路由</a:t>
            </a:r>
            <a:endParaRPr sz="12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1" name="Right Arrow 10"/>
          <p:cNvSpPr/>
          <p:nvPr/>
        </p:nvSpPr>
        <p:spPr>
          <a:xfrm>
            <a:off x="7060996" y="2094341"/>
            <a:ext cx="292608" cy="218724"/>
          </a:xfrm>
          <a:prstGeom prst="rightArrow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280452" y="1783080"/>
            <a:ext cx="2042769" cy="841248"/>
          </a:xfrm>
          <a:prstGeom prst="roundRect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 panose="020B0503020204020204" charset="-122"/>
              </a:rPr>
              <a:t>Sub-Agent
章节知识</a:t>
            </a:r>
            <a:endParaRPr sz="12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3" name="Right Arrow 12"/>
          <p:cNvSpPr/>
          <p:nvPr/>
        </p:nvSpPr>
        <p:spPr>
          <a:xfrm>
            <a:off x="9259214" y="2094341"/>
            <a:ext cx="292608" cy="218724"/>
          </a:xfrm>
          <a:prstGeom prst="rightArrow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478670" y="1783080"/>
            <a:ext cx="2042769" cy="841248"/>
          </a:xfrm>
          <a:prstGeom prst="round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 panose="020B0503020204020204" charset="-122"/>
              </a:rPr>
              <a:t>ANSWER_MODEL
生成回答</a:t>
            </a:r>
            <a:endParaRPr sz="12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777240" y="3246120"/>
            <a:ext cx="3246120" cy="150876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3246120"/>
            <a:ext cx="64008" cy="1508760"/>
          </a:xfrm>
          <a:prstGeom prst="rect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3392424"/>
            <a:ext cx="2926079" cy="292608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微软雅黑" panose="020B0503020204020204" charset="-122"/>
              </a:rPr>
              <a:t>持久化</a:t>
            </a:r>
            <a:endParaRPr sz="1500" b="1">
              <a:solidFill>
                <a:srgbClr val="0F172A"/>
              </a:solidFill>
              <a:latin typeface="微软雅黑" panose="020B050302020402020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960120" y="3813048"/>
            <a:ext cx="2926079" cy="850392"/>
          </a:xfrm>
          <a:prstGeom prst="rect">
            <a:avLst/>
          </a:prstGeom>
          <a:noFill/>
        </p:spPr>
        <p:txBody>
          <a:bodyPr wrap="square" lIns="54864" tIns="27432" rIns="54864" bIns="27432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微软雅黑" panose="020B0503020204020204" charset="-122"/>
              </a:rPr>
              <a:t>• config/routers.json</a:t>
            </a:r>
            <a:endParaRPr sz="1100" b="0">
              <a:solidFill>
                <a:srgbClr val="475569"/>
              </a:solidFill>
              <a:latin typeface="微软雅黑" panose="020B0503020204020204" charset="-122"/>
            </a:endParaRP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微软雅黑" panose="020B0503020204020204" charset="-122"/>
              </a:rPr>
              <a:t>• files/router_{id}/agents.json</a:t>
            </a:r>
            <a:endParaRPr sz="1100" b="0">
              <a:solidFill>
                <a:srgbClr val="475569"/>
              </a:solidFill>
              <a:latin typeface="微软雅黑" panose="020B0503020204020204" charset="-122"/>
            </a:endParaRP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微软雅黑" panose="020B0503020204020204" charset="-122"/>
              </a:rPr>
              <a:t>• config/batch_tests.json</a:t>
            </a:r>
            <a:endParaRPr sz="1100" b="0">
              <a:solidFill>
                <a:srgbClr val="475569"/>
              </a:solidFill>
              <a:latin typeface="微软雅黑" panose="020B0503020204020204" charset="-122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4480560" y="3246120"/>
            <a:ext cx="3246120" cy="150876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80560" y="3246120"/>
            <a:ext cx="64008" cy="1508760"/>
          </a:xfrm>
          <a:prstGeom prst="rect">
            <a:avLst/>
          </a:prstGeom>
          <a:solidFill>
            <a:srgbClr val="0891B2"/>
          </a:solidFill>
          <a:ln>
            <a:solidFill>
              <a:srgbClr val="0891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63440" y="3392424"/>
            <a:ext cx="2926079" cy="292608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微软雅黑" panose="020B0503020204020204" charset="-122"/>
              </a:rPr>
              <a:t>知识文件</a:t>
            </a:r>
            <a:endParaRPr sz="1500" b="1">
              <a:solidFill>
                <a:srgbClr val="0F172A"/>
              </a:solidFill>
              <a:latin typeface="微软雅黑" panose="020B0503020204020204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4663440" y="3813048"/>
            <a:ext cx="2926079" cy="850392"/>
          </a:xfrm>
          <a:prstGeom prst="rect">
            <a:avLst/>
          </a:prstGeom>
          <a:noFill/>
        </p:spPr>
        <p:txBody>
          <a:bodyPr wrap="square" lIns="54864" tIns="27432" rIns="54864" bIns="27432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微软雅黑" panose="020B0503020204020204" charset="-122"/>
              </a:rPr>
              <a:t>• md/knowledge_pX-Y.md</a:t>
            </a:r>
            <a:endParaRPr sz="1100" b="0">
              <a:solidFill>
                <a:srgbClr val="475569"/>
              </a:solidFill>
              <a:latin typeface="微软雅黑" panose="020B0503020204020204" charset="-122"/>
            </a:endParaRP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微软雅黑" panose="020B0503020204020204" charset="-122"/>
              </a:rPr>
              <a:t>• assets/*.png</a:t>
            </a:r>
            <a:endParaRPr sz="1100" b="0">
              <a:solidFill>
                <a:srgbClr val="475569"/>
              </a:solidFill>
              <a:latin typeface="微软雅黑" panose="020B0503020204020204" charset="-122"/>
            </a:endParaRP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微软雅黑" panose="020B0503020204020204" charset="-122"/>
              </a:rPr>
              <a:t>• 可由 PDF/MD 切分生成</a:t>
            </a:r>
            <a:endParaRPr sz="1100" b="0">
              <a:solidFill>
                <a:srgbClr val="475569"/>
              </a:solidFill>
              <a:latin typeface="微软雅黑" panose="020B0503020204020204" charset="-122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8183879" y="3246120"/>
            <a:ext cx="3246120" cy="150876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183879" y="3246120"/>
            <a:ext cx="64008" cy="1508760"/>
          </a:xfrm>
          <a:prstGeom prst="rect">
            <a:avLst/>
          </a:prstGeom>
          <a:solidFill>
            <a:srgbClr val="EA580C"/>
          </a:solidFill>
          <a:ln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66759" y="3392424"/>
            <a:ext cx="2926079" cy="292608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微软雅黑" panose="020B0503020204020204" charset="-122"/>
              </a:rPr>
              <a:t>模型接口</a:t>
            </a:r>
            <a:endParaRPr sz="1500" b="1">
              <a:solidFill>
                <a:srgbClr val="0F172A"/>
              </a:solidFill>
              <a:latin typeface="微软雅黑" panose="020B0503020204020204" charset="-122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8366759" y="3813048"/>
            <a:ext cx="2926079" cy="850392"/>
          </a:xfrm>
          <a:prstGeom prst="rect">
            <a:avLst/>
          </a:prstGeom>
          <a:noFill/>
        </p:spPr>
        <p:txBody>
          <a:bodyPr wrap="square" lIns="54864" tIns="27432" rIns="54864" bIns="27432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微软雅黑" panose="020B0503020204020204" charset="-122"/>
              </a:rPr>
              <a:t>• OpenAI Python SDK 兼容</a:t>
            </a:r>
            <a:endParaRPr sz="1100" b="0">
              <a:solidFill>
                <a:srgbClr val="475569"/>
              </a:solidFill>
              <a:latin typeface="微软雅黑" panose="020B0503020204020204" charset="-122"/>
            </a:endParaRP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微软雅黑" panose="020B0503020204020204" charset="-122"/>
              </a:rPr>
              <a:t>• chat / chat_stream</a:t>
            </a:r>
            <a:endParaRPr sz="1100" b="0">
              <a:solidFill>
                <a:srgbClr val="475569"/>
              </a:solidFill>
              <a:latin typeface="微软雅黑" panose="020B0503020204020204" charset="-122"/>
            </a:endParaRP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微软雅黑" panose="020B0503020204020204" charset="-122"/>
              </a:rPr>
              <a:t>• MOCK_LLM 支持离线测试</a:t>
            </a:r>
            <a:endParaRPr sz="1100" b="0">
              <a:solidFill>
                <a:srgbClr val="475569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30352" y="310896"/>
            <a:ext cx="1554480" cy="329184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 panose="020B0503020204020204" charset="-122"/>
              </a:rPr>
              <a:t>RAG Demo 更新版</a:t>
            </a:r>
            <a:endParaRPr sz="10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30352" y="749808"/>
            <a:ext cx="8412480" cy="41148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微软雅黑" panose="020B0503020204020204" charset="-122"/>
              </a:rPr>
              <a:t>三模型分工</a:t>
            </a:r>
            <a:endParaRPr sz="2400" b="1">
              <a:solidFill>
                <a:srgbClr val="0F172A"/>
              </a:solidFill>
              <a:latin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66928" y="1207008"/>
            <a:ext cx="10424160" cy="292608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微软雅黑" panose="020B0503020204020204" charset="-122"/>
              </a:rPr>
              <a:t>路由轻、初始化离线、回答重；三个阶段可以按成本、速度和能力分别选型。</a:t>
            </a:r>
            <a:endParaRPr sz="1200" b="0">
              <a:solidFill>
                <a:srgbClr val="64748B"/>
              </a:solidFill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1064240" y="6446520"/>
            <a:ext cx="566928" cy="18288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r"/>
            <a:r>
              <a:rPr sz="850" b="0">
                <a:solidFill>
                  <a:srgbClr val="64748B"/>
                </a:solidFill>
                <a:latin typeface="微软雅黑" panose="020B0503020204020204" charset="-122"/>
              </a:rPr>
              <a:t>07</a:t>
            </a:r>
            <a:endParaRPr sz="850" b="0">
              <a:solidFill>
                <a:srgbClr val="64748B"/>
              </a:solidFill>
              <a:latin typeface="微软雅黑" panose="020B0503020204020204" charset="-122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3246120" cy="242316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783080"/>
            <a:ext cx="64008" cy="2423160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29384"/>
            <a:ext cx="2926079" cy="292608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微软雅黑" panose="020B0503020204020204" charset="-122"/>
              </a:rPr>
              <a:t>ROUTER_MODEL</a:t>
            </a:r>
            <a:endParaRPr sz="1600" b="1">
              <a:solidFill>
                <a:srgbClr val="0F172A"/>
              </a:solidFill>
              <a:latin typeface="微软雅黑" panose="020B0503020204020204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914400" y="2350008"/>
            <a:ext cx="2926079" cy="1764792"/>
          </a:xfrm>
          <a:prstGeom prst="rect">
            <a:avLst/>
          </a:prstGeom>
          <a:noFill/>
        </p:spPr>
        <p:txBody>
          <a:bodyPr wrap="square" lIns="54864" tIns="27432" rIns="54864" bIns="27432">
            <a:spAutoFit/>
          </a:bodyPr>
          <a:lstStyle/>
          <a:p>
            <a:pPr>
              <a:spcAft>
                <a:spcPts val="400"/>
              </a:spcAft>
            </a:pPr>
            <a:r>
              <a:rPr sz="1150" b="0">
                <a:solidFill>
                  <a:srgbClr val="475569"/>
                </a:solidFill>
                <a:latin typeface="微软雅黑" panose="020B0503020204020204" charset="-122"/>
              </a:rPr>
              <a:t>• 输入：问题 + 候选 route_questions</a:t>
            </a:r>
            <a:endParaRPr sz="1150" b="0">
              <a:solidFill>
                <a:srgbClr val="475569"/>
              </a:solidFill>
              <a:latin typeface="微软雅黑" panose="020B0503020204020204" charset="-122"/>
            </a:endParaRP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475569"/>
                </a:solidFill>
                <a:latin typeface="微软雅黑" panose="020B0503020204020204" charset="-122"/>
              </a:rPr>
              <a:t>• 输出：严格 JSON</a:t>
            </a:r>
            <a:endParaRPr sz="1150" b="0">
              <a:solidFill>
                <a:srgbClr val="475569"/>
              </a:solidFill>
              <a:latin typeface="微软雅黑" panose="020B0503020204020204" charset="-122"/>
            </a:endParaRP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475569"/>
                </a:solidFill>
                <a:latin typeface="微软雅黑" panose="020B0503020204020204" charset="-122"/>
              </a:rPr>
              <a:t>• 目标：只选 1 个最匹配子 Agent</a:t>
            </a:r>
            <a:endParaRPr sz="1150" b="0">
              <a:solidFill>
                <a:srgbClr val="475569"/>
              </a:solidFill>
              <a:latin typeface="微软雅黑" panose="020B0503020204020204" charset="-122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4480560" y="1783080"/>
            <a:ext cx="3246120" cy="242316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80560" y="1783080"/>
            <a:ext cx="64008" cy="242316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3440" y="1929384"/>
            <a:ext cx="2926079" cy="292608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微软雅黑" panose="020B0503020204020204" charset="-122"/>
              </a:rPr>
              <a:t>INIT_MODEL</a:t>
            </a:r>
            <a:endParaRPr sz="1600" b="1">
              <a:solidFill>
                <a:srgbClr val="0F172A"/>
              </a:solidFill>
              <a:latin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4663440" y="2350008"/>
            <a:ext cx="2926079" cy="1764792"/>
          </a:xfrm>
          <a:prstGeom prst="rect">
            <a:avLst/>
          </a:prstGeom>
          <a:noFill/>
        </p:spPr>
        <p:txBody>
          <a:bodyPr wrap="square" lIns="54864" tIns="27432" rIns="54864" bIns="27432">
            <a:spAutoFit/>
          </a:bodyPr>
          <a:lstStyle/>
          <a:p>
            <a:pPr>
              <a:spcAft>
                <a:spcPts val="400"/>
              </a:spcAft>
            </a:pPr>
            <a:r>
              <a:rPr sz="1150" b="0">
                <a:solidFill>
                  <a:srgbClr val="475569"/>
                </a:solidFill>
                <a:latin typeface="微软雅黑" panose="020B0503020204020204" charset="-122"/>
              </a:rPr>
              <a:t>• 输入：子 Agent 知识全文</a:t>
            </a:r>
            <a:endParaRPr sz="1150" b="0">
              <a:solidFill>
                <a:srgbClr val="475569"/>
              </a:solidFill>
              <a:latin typeface="微软雅黑" panose="020B0503020204020204" charset="-122"/>
            </a:endParaRP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475569"/>
                </a:solidFill>
                <a:latin typeface="微软雅黑" panose="020B0503020204020204" charset="-122"/>
              </a:rPr>
              <a:t>• 输出：route_questions + file_summaries</a:t>
            </a:r>
            <a:endParaRPr sz="1150" b="0">
              <a:solidFill>
                <a:srgbClr val="475569"/>
              </a:solidFill>
              <a:latin typeface="微软雅黑" panose="020B0503020204020204" charset="-122"/>
            </a:endParaRP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475569"/>
                </a:solidFill>
                <a:latin typeface="微软雅黑" panose="020B0503020204020204" charset="-122"/>
              </a:rPr>
              <a:t>• 当前 env 示例：10-15 条，可配置</a:t>
            </a:r>
            <a:endParaRPr sz="1150" b="0">
              <a:solidFill>
                <a:srgbClr val="475569"/>
              </a:solidFill>
              <a:latin typeface="微软雅黑" panose="020B0503020204020204" charset="-122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8229600" y="1783080"/>
            <a:ext cx="3246120" cy="242316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0" y="1783080"/>
            <a:ext cx="64008" cy="2423160"/>
          </a:xfrm>
          <a:prstGeom prst="rect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0" y="1929384"/>
            <a:ext cx="2926079" cy="292608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微软雅黑" panose="020B0503020204020204" charset="-122"/>
              </a:rPr>
              <a:t>ANSWER_MODEL</a:t>
            </a:r>
            <a:endParaRPr sz="1600" b="1">
              <a:solidFill>
                <a:srgbClr val="0F172A"/>
              </a:solidFill>
              <a:latin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8412480" y="2350008"/>
            <a:ext cx="2926079" cy="1764792"/>
          </a:xfrm>
          <a:prstGeom prst="rect">
            <a:avLst/>
          </a:prstGeom>
          <a:noFill/>
        </p:spPr>
        <p:txBody>
          <a:bodyPr wrap="square" lIns="54864" tIns="27432" rIns="54864" bIns="27432">
            <a:spAutoFit/>
          </a:bodyPr>
          <a:lstStyle/>
          <a:p>
            <a:pPr>
              <a:spcAft>
                <a:spcPts val="400"/>
              </a:spcAft>
            </a:pPr>
            <a:r>
              <a:rPr sz="1150" b="0">
                <a:solidFill>
                  <a:srgbClr val="475569"/>
                </a:solidFill>
                <a:latin typeface="微软雅黑" panose="020B0503020204020204" charset="-122"/>
              </a:rPr>
              <a:t>• 输入：完整知识、规则和可选插图</a:t>
            </a:r>
            <a:endParaRPr sz="1150" b="0">
              <a:solidFill>
                <a:srgbClr val="475569"/>
              </a:solidFill>
              <a:latin typeface="微软雅黑" panose="020B0503020204020204" charset="-122"/>
            </a:endParaRP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475569"/>
                </a:solidFill>
                <a:latin typeface="微软雅黑" panose="020B0503020204020204" charset="-122"/>
              </a:rPr>
              <a:t>• 输出：回答、引用、可渲染图片</a:t>
            </a:r>
            <a:endParaRPr sz="1150" b="0">
              <a:solidFill>
                <a:srgbClr val="475569"/>
              </a:solidFill>
              <a:latin typeface="微软雅黑" panose="020B0503020204020204" charset="-122"/>
            </a:endParaRP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475569"/>
                </a:solidFill>
                <a:latin typeface="微软雅黑" panose="020B0503020204020204" charset="-122"/>
              </a:rPr>
              <a:t>• 目标：长上下文、遵循证据</a:t>
            </a:r>
            <a:endParaRPr sz="1150" b="0">
              <a:solidFill>
                <a:srgbClr val="475569"/>
              </a:solidFill>
              <a:latin typeface="微软雅黑" panose="020B050302020402020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005840" y="4773168"/>
            <a:ext cx="10149840" cy="347472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ctr"/>
            <a:r>
              <a:rPr sz="1300" b="0">
                <a:solidFill>
                  <a:srgbClr val="475569"/>
                </a:solidFill>
                <a:latin typeface="微软雅黑" panose="020B0503020204020204" charset="-122"/>
              </a:rPr>
              <a:t>.env.example 当前面向火山方舟 Ark：API_BASE_URL、ROUTER_MODEL、INIT_MODEL、ANSWER_MODEL、ANSWER_WITH_IMAGES 等均可配置。</a:t>
            </a:r>
            <a:endParaRPr sz="1300" b="0">
              <a:solidFill>
                <a:srgbClr val="475569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30352" y="310896"/>
            <a:ext cx="1554480" cy="329184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 panose="020B0503020204020204" charset="-122"/>
              </a:rPr>
              <a:t>RAG Demo 更新版</a:t>
            </a:r>
            <a:endParaRPr sz="10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30352" y="749808"/>
            <a:ext cx="8412480" cy="41148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微软雅黑" panose="020B0503020204020204" charset="-122"/>
              </a:rPr>
              <a:t>知识准备管线</a:t>
            </a:r>
            <a:endParaRPr sz="2400" b="1">
              <a:solidFill>
                <a:srgbClr val="0F172A"/>
              </a:solidFill>
              <a:latin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66928" y="1207008"/>
            <a:ext cx="10424160" cy="292608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微软雅黑" panose="020B0503020204020204" charset="-122"/>
              </a:rPr>
              <a:t>长 PDF/MD 被切分为子 Agent，每个子 Agent 维护自己的 knowledge 和路由问题。</a:t>
            </a:r>
            <a:endParaRPr sz="1200" b="0">
              <a:solidFill>
                <a:srgbClr val="64748B"/>
              </a:solidFill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1064240" y="6446520"/>
            <a:ext cx="566928" cy="18288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r"/>
            <a:r>
              <a:rPr sz="850" b="0">
                <a:solidFill>
                  <a:srgbClr val="64748B"/>
                </a:solidFill>
                <a:latin typeface="微软雅黑" panose="020B0503020204020204" charset="-122"/>
              </a:rPr>
              <a:t>08</a:t>
            </a:r>
            <a:endParaRPr sz="850" b="0">
              <a:solidFill>
                <a:srgbClr val="64748B"/>
              </a:solidFill>
              <a:latin typeface="微软雅黑" panose="020B0503020204020204" charset="-122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594360" y="1783080"/>
            <a:ext cx="1699260" cy="841248"/>
          </a:xfrm>
          <a:prstGeom prst="round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 panose="020B0503020204020204" charset="-122"/>
              </a:rPr>
              <a:t>创建 Router</a:t>
            </a:r>
            <a:endParaRPr sz="12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7" name="Right Arrow 6"/>
          <p:cNvSpPr/>
          <p:nvPr/>
        </p:nvSpPr>
        <p:spPr>
          <a:xfrm>
            <a:off x="2229612" y="2094341"/>
            <a:ext cx="292608" cy="218724"/>
          </a:xfrm>
          <a:prstGeom prst="rightArrow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449068" y="1783080"/>
            <a:ext cx="1699260" cy="841248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 panose="020B0503020204020204" charset="-122"/>
              </a:rPr>
              <a:t>上传源文件</a:t>
            </a:r>
            <a:endParaRPr sz="12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9" name="Right Arrow 8"/>
          <p:cNvSpPr/>
          <p:nvPr/>
        </p:nvSpPr>
        <p:spPr>
          <a:xfrm>
            <a:off x="4084320" y="2094341"/>
            <a:ext cx="292608" cy="218724"/>
          </a:xfrm>
          <a:prstGeom prst="rightArrow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03776" y="1783080"/>
            <a:ext cx="1699260" cy="841248"/>
          </a:xfrm>
          <a:prstGeom prst="roundRect">
            <a:avLst/>
          </a:prstGeom>
          <a:solidFill>
            <a:srgbClr val="0891B2"/>
          </a:solidFill>
          <a:ln>
            <a:solidFill>
              <a:srgbClr val="0891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 panose="020B0503020204020204" charset="-122"/>
              </a:rPr>
              <a:t>配置页码/行号</a:t>
            </a:r>
            <a:endParaRPr sz="12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1" name="Right Arrow 10"/>
          <p:cNvSpPr/>
          <p:nvPr/>
        </p:nvSpPr>
        <p:spPr>
          <a:xfrm>
            <a:off x="5939028" y="2094341"/>
            <a:ext cx="292608" cy="218724"/>
          </a:xfrm>
          <a:prstGeom prst="rightArrow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158484" y="1783080"/>
            <a:ext cx="1699260" cy="841248"/>
          </a:xfrm>
          <a:prstGeom prst="roundRect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 panose="020B0503020204020204" charset="-122"/>
              </a:rPr>
              <a:t>切分子 Agent</a:t>
            </a:r>
            <a:endParaRPr sz="12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3" name="Right Arrow 12"/>
          <p:cNvSpPr/>
          <p:nvPr/>
        </p:nvSpPr>
        <p:spPr>
          <a:xfrm>
            <a:off x="7793736" y="2094341"/>
            <a:ext cx="292608" cy="218724"/>
          </a:xfrm>
          <a:prstGeom prst="rightArrow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013192" y="1783080"/>
            <a:ext cx="1699260" cy="841248"/>
          </a:xfrm>
          <a:prstGeom prst="roundRect">
            <a:avLst/>
          </a:prstGeom>
          <a:solidFill>
            <a:srgbClr val="EA580C"/>
          </a:solidFill>
          <a:ln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 panose="020B0503020204020204" charset="-122"/>
              </a:rPr>
              <a:t>生成 md + assets</a:t>
            </a:r>
            <a:endParaRPr sz="12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5" name="Right Arrow 14"/>
          <p:cNvSpPr/>
          <p:nvPr/>
        </p:nvSpPr>
        <p:spPr>
          <a:xfrm>
            <a:off x="9648444" y="2094341"/>
            <a:ext cx="292608" cy="218724"/>
          </a:xfrm>
          <a:prstGeom prst="rightArrow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867900" y="1783080"/>
            <a:ext cx="1699260" cy="841248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 panose="020B0503020204020204" charset="-122"/>
              </a:rPr>
              <a:t>initialize</a:t>
            </a:r>
            <a:endParaRPr sz="12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749808" y="3246120"/>
            <a:ext cx="3246120" cy="1572768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49808" y="3246120"/>
            <a:ext cx="64008" cy="1572768"/>
          </a:xfrm>
          <a:prstGeom prst="rect">
            <a:avLst/>
          </a:prstGeom>
          <a:solidFill>
            <a:srgbClr val="0891B2"/>
          </a:solidFill>
          <a:ln>
            <a:solidFill>
              <a:srgbClr val="0891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" y="3392424"/>
            <a:ext cx="2926079" cy="292608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微软雅黑" panose="020B0503020204020204" charset="-122"/>
              </a:rPr>
              <a:t>切分模块</a:t>
            </a:r>
            <a:endParaRPr sz="1500" b="1">
              <a:solidFill>
                <a:srgbClr val="0F172A"/>
              </a:solidFill>
              <a:latin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932688" y="3813048"/>
            <a:ext cx="2926079" cy="914400"/>
          </a:xfrm>
          <a:prstGeom prst="rect">
            <a:avLst/>
          </a:prstGeom>
          <a:noFill/>
        </p:spPr>
        <p:txBody>
          <a:bodyPr wrap="square" lIns="54864" tIns="27432" rIns="54864" bIns="27432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微软雅黑" panose="020B0503020204020204" charset="-122"/>
              </a:rPr>
              <a:t>• agent_split.py 调用 docling_extract_pages.py</a:t>
            </a:r>
            <a:endParaRPr sz="1100" b="0">
              <a:solidFill>
                <a:srgbClr val="475569"/>
              </a:solidFill>
              <a:latin typeface="微软雅黑" panose="020B0503020204020204" charset="-122"/>
            </a:endParaRP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微软雅黑" panose="020B0503020204020204" charset="-122"/>
              </a:rPr>
              <a:t>• 按页范围输出 knowledge_pX-Y.md</a:t>
            </a:r>
            <a:endParaRPr sz="1100" b="0">
              <a:solidFill>
                <a:srgbClr val="475569"/>
              </a:solidFill>
              <a:latin typeface="微软雅黑" panose="020B0503020204020204" charset="-122"/>
            </a:endParaRP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微软雅黑" panose="020B0503020204020204" charset="-122"/>
              </a:rPr>
              <a:t>• 图片引用统一改写到 assets/</a:t>
            </a:r>
            <a:endParaRPr sz="1100" b="0">
              <a:solidFill>
                <a:srgbClr val="475569"/>
              </a:solidFill>
              <a:latin typeface="微软雅黑" panose="020B0503020204020204" charset="-122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4480560" y="3246120"/>
            <a:ext cx="3246120" cy="1572768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480560" y="3246120"/>
            <a:ext cx="64008" cy="157276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63440" y="3392424"/>
            <a:ext cx="2926079" cy="292608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微软雅黑" panose="020B0503020204020204" charset="-122"/>
              </a:rPr>
              <a:t>初始化模块</a:t>
            </a:r>
            <a:endParaRPr sz="1500" b="1">
              <a:solidFill>
                <a:srgbClr val="0F172A"/>
              </a:solidFill>
              <a:latin typeface="微软雅黑" panose="020B0503020204020204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663440" y="3813048"/>
            <a:ext cx="2926079" cy="914400"/>
          </a:xfrm>
          <a:prstGeom prst="rect">
            <a:avLst/>
          </a:prstGeom>
          <a:noFill/>
        </p:spPr>
        <p:txBody>
          <a:bodyPr wrap="square" lIns="54864" tIns="27432" rIns="54864" bIns="27432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微软雅黑" panose="020B0503020204020204" charset="-122"/>
              </a:rPr>
              <a:t>• initializer.py 生成 route_questions</a:t>
            </a:r>
            <a:endParaRPr sz="1100" b="0">
              <a:solidFill>
                <a:srgbClr val="475569"/>
              </a:solidFill>
              <a:latin typeface="微软雅黑" panose="020B0503020204020204" charset="-122"/>
            </a:endParaRP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微软雅黑" panose="020B0503020204020204" charset="-122"/>
              </a:rPr>
              <a:t>• AgentsStore 写入 initialized 状态</a:t>
            </a:r>
            <a:endParaRPr sz="1100" b="0">
              <a:solidFill>
                <a:srgbClr val="475569"/>
              </a:solidFill>
              <a:latin typeface="微软雅黑" panose="020B0503020204020204" charset="-122"/>
            </a:endParaRP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微软雅黑" panose="020B0503020204020204" charset="-122"/>
              </a:rPr>
              <a:t>• 后续问答只选已初始化 Agent</a:t>
            </a:r>
            <a:endParaRPr sz="1100" b="0">
              <a:solidFill>
                <a:srgbClr val="475569"/>
              </a:solidFill>
              <a:latin typeface="微软雅黑" panose="020B0503020204020204" charset="-122"/>
            </a:endParaRPr>
          </a:p>
        </p:txBody>
      </p:sp>
      <p:sp>
        <p:nvSpPr>
          <p:cNvPr id="25" name="Rounded Rectangle 24"/>
          <p:cNvSpPr/>
          <p:nvPr/>
        </p:nvSpPr>
        <p:spPr>
          <a:xfrm>
            <a:off x="8211312" y="3246120"/>
            <a:ext cx="3246120" cy="1572768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211312" y="3246120"/>
            <a:ext cx="64008" cy="1572768"/>
          </a:xfrm>
          <a:prstGeom prst="rect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94192" y="3392424"/>
            <a:ext cx="2926079" cy="292608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微软雅黑" panose="020B0503020204020204" charset="-122"/>
              </a:rPr>
              <a:t>知识形态</a:t>
            </a:r>
            <a:endParaRPr sz="1500" b="1">
              <a:solidFill>
                <a:srgbClr val="0F172A"/>
              </a:solidFill>
              <a:latin typeface="微软雅黑" panose="020B0503020204020204" charset="-122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8394192" y="3813048"/>
            <a:ext cx="2926079" cy="914400"/>
          </a:xfrm>
          <a:prstGeom prst="rect">
            <a:avLst/>
          </a:prstGeom>
          <a:noFill/>
        </p:spPr>
        <p:txBody>
          <a:bodyPr wrap="square" lIns="54864" tIns="27432" rIns="54864" bIns="27432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微软雅黑" panose="020B0503020204020204" charset="-122"/>
              </a:rPr>
              <a:t>• Markdown frontmatter 记录来源页</a:t>
            </a:r>
            <a:endParaRPr sz="1100" b="0">
              <a:solidFill>
                <a:srgbClr val="475569"/>
              </a:solidFill>
              <a:latin typeface="微软雅黑" panose="020B0503020204020204" charset="-122"/>
            </a:endParaRP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微软雅黑" panose="020B0503020204020204" charset="-122"/>
              </a:rPr>
              <a:t>• 正文含 page 标记、表格和图片</a:t>
            </a:r>
            <a:endParaRPr sz="1100" b="0">
              <a:solidFill>
                <a:srgbClr val="475569"/>
              </a:solidFill>
              <a:latin typeface="微软雅黑" panose="020B0503020204020204" charset="-122"/>
            </a:endParaRP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微软雅黑" panose="020B0503020204020204" charset="-122"/>
              </a:rPr>
              <a:t>• knowledge 字段也会缓存到 agents.json</a:t>
            </a:r>
            <a:endParaRPr sz="1100" b="0">
              <a:solidFill>
                <a:srgbClr val="475569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30352" y="310896"/>
            <a:ext cx="1554480" cy="329184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 panose="020B0503020204020204" charset="-122"/>
              </a:rPr>
              <a:t>RAG Demo 更新版</a:t>
            </a:r>
            <a:endParaRPr sz="10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30352" y="749808"/>
            <a:ext cx="8412480" cy="41148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微软雅黑" panose="020B0503020204020204" charset="-122"/>
              </a:rPr>
              <a:t>在线问答流程</a:t>
            </a:r>
            <a:endParaRPr sz="2400" b="1">
              <a:solidFill>
                <a:srgbClr val="0F172A"/>
              </a:solidFill>
              <a:latin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66928" y="1207008"/>
            <a:ext cx="10424160" cy="292608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微软雅黑" panose="020B0503020204020204" charset="-122"/>
              </a:rPr>
              <a:t>问题先被路由到一个章节子 Agent，再实时读取知识并调用回答模型。</a:t>
            </a:r>
            <a:endParaRPr sz="1200" b="0">
              <a:solidFill>
                <a:srgbClr val="64748B"/>
              </a:solidFill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1064240" y="6446520"/>
            <a:ext cx="566928" cy="18288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r"/>
            <a:r>
              <a:rPr sz="850" b="0">
                <a:solidFill>
                  <a:srgbClr val="64748B"/>
                </a:solidFill>
                <a:latin typeface="微软雅黑" panose="020B0503020204020204" charset="-122"/>
              </a:rPr>
              <a:t>09</a:t>
            </a:r>
            <a:endParaRPr sz="850" b="0">
              <a:solidFill>
                <a:srgbClr val="64748B"/>
              </a:solidFill>
              <a:latin typeface="微软雅黑" panose="020B0503020204020204" charset="-122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530352" y="1783080"/>
            <a:ext cx="1722120" cy="841248"/>
          </a:xfrm>
          <a:prstGeom prst="round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 panose="020B0503020204020204" charset="-122"/>
              </a:rPr>
              <a:t>用户提问</a:t>
            </a:r>
            <a:endParaRPr sz="12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7" name="Right Arrow 6"/>
          <p:cNvSpPr/>
          <p:nvPr/>
        </p:nvSpPr>
        <p:spPr>
          <a:xfrm>
            <a:off x="2188464" y="2094341"/>
            <a:ext cx="292608" cy="218724"/>
          </a:xfrm>
          <a:prstGeom prst="rightArrow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407920" y="1783080"/>
            <a:ext cx="1722120" cy="841248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 panose="020B0503020204020204" charset="-122"/>
              </a:rPr>
              <a:t>按 router_id
筛候选</a:t>
            </a:r>
            <a:endParaRPr sz="12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9" name="Right Arrow 8"/>
          <p:cNvSpPr/>
          <p:nvPr/>
        </p:nvSpPr>
        <p:spPr>
          <a:xfrm>
            <a:off x="4066032" y="2094341"/>
            <a:ext cx="292608" cy="218724"/>
          </a:xfrm>
          <a:prstGeom prst="rightArrow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285488" y="1783080"/>
            <a:ext cx="1722120" cy="841248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 panose="020B0503020204020204" charset="-122"/>
              </a:rPr>
              <a:t>ROUTER_MODEL
语义路由</a:t>
            </a:r>
            <a:endParaRPr sz="12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1" name="Right Arrow 10"/>
          <p:cNvSpPr/>
          <p:nvPr/>
        </p:nvSpPr>
        <p:spPr>
          <a:xfrm>
            <a:off x="5943600" y="2094341"/>
            <a:ext cx="292608" cy="218724"/>
          </a:xfrm>
          <a:prstGeom prst="rightArrow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163056" y="1783080"/>
            <a:ext cx="1722120" cy="841248"/>
          </a:xfrm>
          <a:prstGeom prst="roundRect">
            <a:avLst/>
          </a:prstGeom>
          <a:solidFill>
            <a:srgbClr val="0891B2"/>
          </a:solidFill>
          <a:ln>
            <a:solidFill>
              <a:srgbClr val="0891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 panose="020B0503020204020204" charset="-122"/>
              </a:rPr>
              <a:t>读取 knowledge
+ assets</a:t>
            </a:r>
            <a:endParaRPr sz="12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3" name="Right Arrow 12"/>
          <p:cNvSpPr/>
          <p:nvPr/>
        </p:nvSpPr>
        <p:spPr>
          <a:xfrm>
            <a:off x="7821168" y="2094341"/>
            <a:ext cx="292608" cy="218724"/>
          </a:xfrm>
          <a:prstGeom prst="rightArrow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040624" y="1783080"/>
            <a:ext cx="1722120" cy="841248"/>
          </a:xfrm>
          <a:prstGeom prst="roundRect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 panose="020B0503020204020204" charset="-122"/>
              </a:rPr>
              <a:t>ANSWER_MODEL
流式回答</a:t>
            </a:r>
            <a:endParaRPr sz="12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5" name="Right Arrow 14"/>
          <p:cNvSpPr/>
          <p:nvPr/>
        </p:nvSpPr>
        <p:spPr>
          <a:xfrm>
            <a:off x="9698736" y="2094341"/>
            <a:ext cx="292608" cy="218724"/>
          </a:xfrm>
          <a:prstGeom prst="rightArrow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918192" y="1783080"/>
            <a:ext cx="1722120" cy="841248"/>
          </a:xfrm>
          <a:prstGeom prst="roundRect">
            <a:avLst/>
          </a:prstGeom>
          <a:solidFill>
            <a:srgbClr val="EA580C"/>
          </a:solidFill>
          <a:ln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 panose="020B0503020204020204" charset="-122"/>
              </a:rPr>
              <a:t>引用/插图
后处理</a:t>
            </a:r>
            <a:endParaRPr sz="12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749808" y="3246120"/>
            <a:ext cx="5074920" cy="1572768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49808" y="3246120"/>
            <a:ext cx="64008" cy="1572768"/>
          </a:xfrm>
          <a:prstGeom prst="rect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" y="3392424"/>
            <a:ext cx="4754880" cy="292608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微软雅黑" panose="020B0503020204020204" charset="-122"/>
              </a:rPr>
              <a:t>匹配成功</a:t>
            </a:r>
            <a:endParaRPr sz="1500" b="1">
              <a:solidFill>
                <a:srgbClr val="0F172A"/>
              </a:solidFill>
              <a:latin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932688" y="3813048"/>
            <a:ext cx="4754880" cy="914400"/>
          </a:xfrm>
          <a:prstGeom prst="rect">
            <a:avLst/>
          </a:prstGeom>
          <a:noFill/>
        </p:spPr>
        <p:txBody>
          <a:bodyPr wrap="square" lIns="54864" tIns="27432" rIns="54864" bIns="27432">
            <a:spAutoFit/>
          </a:bodyPr>
          <a:lstStyle/>
          <a:p>
            <a:pPr>
              <a:spcAft>
                <a:spcPts val="400"/>
              </a:spcAft>
            </a:pPr>
            <a:r>
              <a:rPr sz="1130" b="0">
                <a:solidFill>
                  <a:srgbClr val="475569"/>
                </a:solidFill>
                <a:latin typeface="微软雅黑" panose="020B0503020204020204" charset="-122"/>
              </a:rPr>
              <a:t>• target_agents 最多 1 个</a:t>
            </a:r>
            <a:endParaRPr sz="1130" b="0">
              <a:solidFill>
                <a:srgbClr val="475569"/>
              </a:solidFill>
              <a:latin typeface="微软雅黑" panose="020B0503020204020204" charset="-122"/>
            </a:endParaRPr>
          </a:p>
          <a:p>
            <a:pPr>
              <a:spcAft>
                <a:spcPts val="400"/>
              </a:spcAft>
            </a:pPr>
            <a:r>
              <a:rPr sz="1130" b="0">
                <a:solidFill>
                  <a:srgbClr val="475569"/>
                </a:solidFill>
                <a:latin typeface="微软雅黑" panose="020B0503020204020204" charset="-122"/>
              </a:rPr>
              <a:t>• 完整知识进入 system prompt</a:t>
            </a:r>
            <a:endParaRPr sz="1130" b="0">
              <a:solidFill>
                <a:srgbClr val="475569"/>
              </a:solidFill>
              <a:latin typeface="微软雅黑" panose="020B0503020204020204" charset="-122"/>
            </a:endParaRPr>
          </a:p>
          <a:p>
            <a:pPr>
              <a:spcAft>
                <a:spcPts val="400"/>
              </a:spcAft>
            </a:pPr>
            <a:r>
              <a:rPr sz="1130" b="0">
                <a:solidFill>
                  <a:srgbClr val="475569"/>
                </a:solidFill>
                <a:latin typeface="微软雅黑" panose="020B0503020204020204" charset="-122"/>
              </a:rPr>
              <a:t>• 回答正文 + 【引用】 + merged_illustrations 返回前端</a:t>
            </a:r>
            <a:endParaRPr sz="1130" b="0">
              <a:solidFill>
                <a:srgbClr val="475569"/>
              </a:solidFill>
              <a:latin typeface="微软雅黑" panose="020B0503020204020204" charset="-122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6355080" y="3246120"/>
            <a:ext cx="5074920" cy="1572768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55080" y="3246120"/>
            <a:ext cx="64008" cy="1572768"/>
          </a:xfrm>
          <a:prstGeom prst="rect">
            <a:avLst/>
          </a:prstGeom>
          <a:solidFill>
            <a:srgbClr val="DC2626"/>
          </a:solidFill>
          <a:ln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37960" y="3392424"/>
            <a:ext cx="4754880" cy="292608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微软雅黑" panose="020B0503020204020204" charset="-122"/>
              </a:rPr>
              <a:t>匹配失败</a:t>
            </a:r>
            <a:endParaRPr sz="1500" b="1">
              <a:solidFill>
                <a:srgbClr val="0F172A"/>
              </a:solidFill>
              <a:latin typeface="微软雅黑" panose="020B0503020204020204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6537960" y="3813048"/>
            <a:ext cx="4754880" cy="914400"/>
          </a:xfrm>
          <a:prstGeom prst="rect">
            <a:avLst/>
          </a:prstGeom>
          <a:noFill/>
        </p:spPr>
        <p:txBody>
          <a:bodyPr wrap="square" lIns="54864" tIns="27432" rIns="54864" bIns="27432">
            <a:spAutoFit/>
          </a:bodyPr>
          <a:lstStyle/>
          <a:p>
            <a:pPr>
              <a:spcAft>
                <a:spcPts val="400"/>
              </a:spcAft>
            </a:pPr>
            <a:r>
              <a:rPr sz="1130" b="0">
                <a:solidFill>
                  <a:srgbClr val="475569"/>
                </a:solidFill>
                <a:latin typeface="微软雅黑" panose="020B0503020204020204" charset="-122"/>
              </a:rPr>
              <a:t>• need_clarification=true</a:t>
            </a:r>
            <a:endParaRPr sz="1130" b="0">
              <a:solidFill>
                <a:srgbClr val="475569"/>
              </a:solidFill>
              <a:latin typeface="微软雅黑" panose="020B0503020204020204" charset="-122"/>
            </a:endParaRPr>
          </a:p>
          <a:p>
            <a:pPr>
              <a:spcAft>
                <a:spcPts val="400"/>
              </a:spcAft>
            </a:pPr>
            <a:r>
              <a:rPr sz="1130" b="0">
                <a:solidFill>
                  <a:srgbClr val="475569"/>
                </a:solidFill>
                <a:latin typeface="微软雅黑" panose="020B0503020204020204" charset="-122"/>
              </a:rPr>
              <a:t>• 不调用子 Agent 和回答模型</a:t>
            </a:r>
            <a:endParaRPr sz="1130" b="0">
              <a:solidFill>
                <a:srgbClr val="475569"/>
              </a:solidFill>
              <a:latin typeface="微软雅黑" panose="020B0503020204020204" charset="-122"/>
            </a:endParaRPr>
          </a:p>
          <a:p>
            <a:pPr>
              <a:spcAft>
                <a:spcPts val="400"/>
              </a:spcAft>
            </a:pPr>
            <a:r>
              <a:rPr sz="1130" b="0">
                <a:solidFill>
                  <a:srgbClr val="475569"/>
                </a:solidFill>
                <a:latin typeface="微软雅黑" panose="020B0503020204020204" charset="-122"/>
              </a:rPr>
              <a:t>• 减少无关问题被强行回答的风险</a:t>
            </a:r>
            <a:endParaRPr sz="1130" b="0">
              <a:solidFill>
                <a:srgbClr val="475569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30352" y="310896"/>
            <a:ext cx="1554480" cy="329184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 panose="020B0503020204020204" charset="-122"/>
              </a:rPr>
              <a:t>RAG Demo 更新版</a:t>
            </a:r>
            <a:endParaRPr sz="10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30352" y="749808"/>
            <a:ext cx="8412480" cy="41148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微软雅黑" panose="020B0503020204020204" charset="-122"/>
              </a:rPr>
              <a:t>流式体验与可观测性</a:t>
            </a:r>
            <a:endParaRPr sz="2400" b="1">
              <a:solidFill>
                <a:srgbClr val="0F172A"/>
              </a:solidFill>
              <a:latin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66928" y="1207008"/>
            <a:ext cx="10424160" cy="292608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微软雅黑" panose="020B0503020204020204" charset="-122"/>
              </a:rPr>
              <a:t>`POST /ask/stream` 通过 SSE 同时展示路由过程、回答增量和最终结构化结果。</a:t>
            </a:r>
            <a:endParaRPr sz="1200" b="0">
              <a:solidFill>
                <a:srgbClr val="64748B"/>
              </a:solidFill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1064240" y="6446520"/>
            <a:ext cx="566928" cy="18288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r"/>
            <a:r>
              <a:rPr sz="850" b="0">
                <a:solidFill>
                  <a:srgbClr val="64748B"/>
                </a:solidFill>
                <a:latin typeface="微软雅黑" panose="020B0503020204020204" charset="-122"/>
              </a:rPr>
              <a:t>10</a:t>
            </a:r>
            <a:endParaRPr sz="850" b="0">
              <a:solidFill>
                <a:srgbClr val="64748B"/>
              </a:solidFill>
              <a:latin typeface="微软雅黑" panose="020B0503020204020204" charset="-122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260604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783080"/>
            <a:ext cx="64008" cy="256032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29384"/>
            <a:ext cx="2286000" cy="292608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微软雅黑" panose="020B0503020204020204" charset="-122"/>
              </a:rPr>
              <a:t>SSE 事件</a:t>
            </a:r>
            <a:endParaRPr sz="1500" b="1">
              <a:solidFill>
                <a:srgbClr val="0F172A"/>
              </a:solidFill>
              <a:latin typeface="微软雅黑" panose="020B0503020204020204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914400" y="2350008"/>
            <a:ext cx="2286000" cy="1901952"/>
          </a:xfrm>
          <a:prstGeom prst="rect">
            <a:avLst/>
          </a:prstGeom>
          <a:noFill/>
        </p:spPr>
        <p:txBody>
          <a:bodyPr wrap="square" lIns="54864" tIns="27432" rIns="54864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80" b="0">
                <a:solidFill>
                  <a:srgbClr val="475569"/>
                </a:solidFill>
                <a:latin typeface="微软雅黑" panose="020B0503020204020204" charset="-122"/>
              </a:rPr>
              <a:t>• log：阶段日志</a:t>
            </a:r>
            <a:endParaRPr sz="1080" b="0">
              <a:solidFill>
                <a:srgbClr val="475569"/>
              </a:solidFill>
              <a:latin typeface="微软雅黑" panose="020B0503020204020204" charset="-122"/>
            </a:endParaRPr>
          </a:p>
          <a:p>
            <a:pPr>
              <a:spcAft>
                <a:spcPts val="400"/>
              </a:spcAft>
            </a:pPr>
            <a:r>
              <a:rPr sz="1080" b="0">
                <a:solidFill>
                  <a:srgbClr val="475569"/>
                </a:solidFill>
                <a:latin typeface="微软雅黑" panose="020B0503020204020204" charset="-122"/>
              </a:rPr>
              <a:t>• route_delta：路由 JSON 逐字</a:t>
            </a:r>
            <a:endParaRPr sz="1080" b="0">
              <a:solidFill>
                <a:srgbClr val="475569"/>
              </a:solidFill>
              <a:latin typeface="微软雅黑" panose="020B0503020204020204" charset="-122"/>
            </a:endParaRPr>
          </a:p>
          <a:p>
            <a:pPr>
              <a:spcAft>
                <a:spcPts val="400"/>
              </a:spcAft>
            </a:pPr>
            <a:r>
              <a:rPr sz="1080" b="0">
                <a:solidFill>
                  <a:srgbClr val="475569"/>
                </a:solidFill>
                <a:latin typeface="微软雅黑" panose="020B0503020204020204" charset="-122"/>
              </a:rPr>
              <a:t>• route：解析后路由结果</a:t>
            </a:r>
            <a:endParaRPr sz="1080" b="0">
              <a:solidFill>
                <a:srgbClr val="475569"/>
              </a:solidFill>
              <a:latin typeface="微软雅黑" panose="020B0503020204020204" charset="-122"/>
            </a:endParaRPr>
          </a:p>
          <a:p>
            <a:pPr>
              <a:spcAft>
                <a:spcPts val="400"/>
              </a:spcAft>
            </a:pPr>
            <a:r>
              <a:rPr sz="1080" b="0">
                <a:solidFill>
                  <a:srgbClr val="475569"/>
                </a:solidFill>
                <a:latin typeface="微软雅黑" panose="020B0503020204020204" charset="-122"/>
              </a:rPr>
              <a:t>• delta：回答逐字</a:t>
            </a:r>
            <a:endParaRPr sz="1080" b="0">
              <a:solidFill>
                <a:srgbClr val="475569"/>
              </a:solidFill>
              <a:latin typeface="微软雅黑" panose="020B0503020204020204" charset="-122"/>
            </a:endParaRPr>
          </a:p>
          <a:p>
            <a:pPr>
              <a:spcAft>
                <a:spcPts val="400"/>
              </a:spcAft>
            </a:pPr>
            <a:r>
              <a:rPr sz="1080" b="0">
                <a:solidFill>
                  <a:srgbClr val="475569"/>
                </a:solidFill>
                <a:latin typeface="微软雅黑" panose="020B0503020204020204" charset="-122"/>
              </a:rPr>
              <a:t>• done：完整 AskResponse</a:t>
            </a:r>
            <a:endParaRPr sz="1080" b="0">
              <a:solidFill>
                <a:srgbClr val="475569"/>
              </a:solidFill>
              <a:latin typeface="微软雅黑" panose="020B0503020204020204" charset="-122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3703320" y="1783080"/>
            <a:ext cx="260604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703320" y="1783080"/>
            <a:ext cx="64008" cy="2560320"/>
          </a:xfrm>
          <a:prstGeom prst="rect">
            <a:avLst/>
          </a:prstGeom>
          <a:solidFill>
            <a:srgbClr val="0891B2"/>
          </a:solidFill>
          <a:ln>
            <a:solidFill>
              <a:srgbClr val="0891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86200" y="1929384"/>
            <a:ext cx="2286000" cy="292608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微软雅黑" panose="020B0503020204020204" charset="-122"/>
              </a:rPr>
              <a:t>耗时指标</a:t>
            </a:r>
            <a:endParaRPr sz="1500" b="1">
              <a:solidFill>
                <a:srgbClr val="0F172A"/>
              </a:solidFill>
              <a:latin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3886200" y="2350008"/>
            <a:ext cx="2286000" cy="1901952"/>
          </a:xfrm>
          <a:prstGeom prst="rect">
            <a:avLst/>
          </a:prstGeom>
          <a:noFill/>
        </p:spPr>
        <p:txBody>
          <a:bodyPr wrap="square" lIns="54864" tIns="27432" rIns="54864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80" b="0">
                <a:solidFill>
                  <a:srgbClr val="475569"/>
                </a:solidFill>
                <a:latin typeface="微软雅黑" panose="020B0503020204020204" charset="-122"/>
              </a:rPr>
              <a:t>• total_ms</a:t>
            </a:r>
            <a:endParaRPr sz="1080" b="0">
              <a:solidFill>
                <a:srgbClr val="475569"/>
              </a:solidFill>
              <a:latin typeface="微软雅黑" panose="020B0503020204020204" charset="-122"/>
            </a:endParaRPr>
          </a:p>
          <a:p>
            <a:pPr>
              <a:spcAft>
                <a:spcPts val="400"/>
              </a:spcAft>
            </a:pPr>
            <a:r>
              <a:rPr sz="1080" b="0">
                <a:solidFill>
                  <a:srgbClr val="475569"/>
                </a:solidFill>
                <a:latin typeface="微软雅黑" panose="020B0503020204020204" charset="-122"/>
              </a:rPr>
              <a:t>• route_ms</a:t>
            </a:r>
            <a:endParaRPr sz="1080" b="0">
              <a:solidFill>
                <a:srgbClr val="475569"/>
              </a:solidFill>
              <a:latin typeface="微软雅黑" panose="020B0503020204020204" charset="-122"/>
            </a:endParaRPr>
          </a:p>
          <a:p>
            <a:pPr>
              <a:spcAft>
                <a:spcPts val="400"/>
              </a:spcAft>
            </a:pPr>
            <a:r>
              <a:rPr sz="1080" b="0">
                <a:solidFill>
                  <a:srgbClr val="475569"/>
                </a:solidFill>
                <a:latin typeface="微软雅黑" panose="020B0503020204020204" charset="-122"/>
              </a:rPr>
              <a:t>• route_first_token_ms</a:t>
            </a:r>
            <a:endParaRPr sz="1080" b="0">
              <a:solidFill>
                <a:srgbClr val="475569"/>
              </a:solidFill>
              <a:latin typeface="微软雅黑" panose="020B0503020204020204" charset="-122"/>
            </a:endParaRPr>
          </a:p>
          <a:p>
            <a:pPr>
              <a:spcAft>
                <a:spcPts val="400"/>
              </a:spcAft>
            </a:pPr>
            <a:r>
              <a:rPr sz="1080" b="0">
                <a:solidFill>
                  <a:srgbClr val="475569"/>
                </a:solidFill>
                <a:latin typeface="微软雅黑" panose="020B0503020204020204" charset="-122"/>
              </a:rPr>
              <a:t>• first_token_ms</a:t>
            </a:r>
            <a:endParaRPr sz="1080" b="0">
              <a:solidFill>
                <a:srgbClr val="475569"/>
              </a:solidFill>
              <a:latin typeface="微软雅黑" panose="020B0503020204020204" charset="-122"/>
            </a:endParaRPr>
          </a:p>
          <a:p>
            <a:pPr>
              <a:spcAft>
                <a:spcPts val="400"/>
              </a:spcAft>
            </a:pPr>
            <a:r>
              <a:rPr sz="1080" b="0">
                <a:solidFill>
                  <a:srgbClr val="475569"/>
                </a:solidFill>
                <a:latin typeface="微软雅黑" panose="020B0503020204020204" charset="-122"/>
              </a:rPr>
              <a:t>• agents_ms / merge_ms</a:t>
            </a:r>
            <a:endParaRPr sz="1080" b="0">
              <a:solidFill>
                <a:srgbClr val="475569"/>
              </a:solidFill>
              <a:latin typeface="微软雅黑" panose="020B0503020204020204" charset="-122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6675120" y="1783080"/>
            <a:ext cx="260604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675120" y="1783080"/>
            <a:ext cx="64008" cy="2560320"/>
          </a:xfrm>
          <a:prstGeom prst="rect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0" y="1929384"/>
            <a:ext cx="2286000" cy="292608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微软雅黑" panose="020B0503020204020204" charset="-122"/>
              </a:rPr>
              <a:t>前端展示</a:t>
            </a:r>
            <a:endParaRPr sz="1500" b="1">
              <a:solidFill>
                <a:srgbClr val="0F172A"/>
              </a:solidFill>
              <a:latin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6858000" y="2350008"/>
            <a:ext cx="2286000" cy="1901952"/>
          </a:xfrm>
          <a:prstGeom prst="rect">
            <a:avLst/>
          </a:prstGeom>
          <a:noFill/>
        </p:spPr>
        <p:txBody>
          <a:bodyPr wrap="square" lIns="54864" tIns="27432" rIns="54864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80" b="0">
                <a:solidFill>
                  <a:srgbClr val="475569"/>
                </a:solidFill>
                <a:latin typeface="微软雅黑" panose="020B0503020204020204" charset="-122"/>
              </a:rPr>
              <a:t>• 单问题测试页</a:t>
            </a:r>
            <a:endParaRPr sz="1080" b="0">
              <a:solidFill>
                <a:srgbClr val="475569"/>
              </a:solidFill>
              <a:latin typeface="微软雅黑" panose="020B0503020204020204" charset="-122"/>
            </a:endParaRPr>
          </a:p>
          <a:p>
            <a:pPr>
              <a:spcAft>
                <a:spcPts val="400"/>
              </a:spcAft>
            </a:pPr>
            <a:r>
              <a:rPr sz="1080" b="0">
                <a:solidFill>
                  <a:srgbClr val="475569"/>
                </a:solidFill>
                <a:latin typeface="微软雅黑" panose="020B0503020204020204" charset="-122"/>
              </a:rPr>
              <a:t>• 左侧回答与引用</a:t>
            </a:r>
            <a:endParaRPr sz="1080" b="0">
              <a:solidFill>
                <a:srgbClr val="475569"/>
              </a:solidFill>
              <a:latin typeface="微软雅黑" panose="020B0503020204020204" charset="-122"/>
            </a:endParaRPr>
          </a:p>
          <a:p>
            <a:pPr>
              <a:spcAft>
                <a:spcPts val="400"/>
              </a:spcAft>
            </a:pPr>
            <a:r>
              <a:rPr sz="1080" b="0">
                <a:solidFill>
                  <a:srgbClr val="475569"/>
                </a:solidFill>
                <a:latin typeface="微软雅黑" panose="020B0503020204020204" charset="-122"/>
              </a:rPr>
              <a:t>• 右侧路由 JSON 和日志</a:t>
            </a:r>
            <a:endParaRPr sz="1080" b="0">
              <a:solidFill>
                <a:srgbClr val="475569"/>
              </a:solidFill>
              <a:latin typeface="微软雅黑" panose="020B0503020204020204" charset="-122"/>
            </a:endParaRPr>
          </a:p>
          <a:p>
            <a:pPr>
              <a:spcAft>
                <a:spcPts val="400"/>
              </a:spcAft>
            </a:pPr>
            <a:r>
              <a:rPr sz="1080" b="0">
                <a:solidFill>
                  <a:srgbClr val="475569"/>
                </a:solidFill>
                <a:latin typeface="微软雅黑" panose="020B0503020204020204" charset="-122"/>
              </a:rPr>
              <a:t>• PDF/图片预览</a:t>
            </a:r>
            <a:endParaRPr sz="1080" b="0">
              <a:solidFill>
                <a:srgbClr val="475569"/>
              </a:solidFill>
              <a:latin typeface="微软雅黑" panose="020B0503020204020204" charset="-122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9646920" y="1783080"/>
            <a:ext cx="182880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646920" y="1783080"/>
            <a:ext cx="64008" cy="2560320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29800" y="1929384"/>
            <a:ext cx="1508760" cy="292608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微软雅黑" panose="020B0503020204020204" charset="-122"/>
              </a:rPr>
              <a:t>接口</a:t>
            </a:r>
            <a:endParaRPr sz="1500" b="1">
              <a:solidFill>
                <a:srgbClr val="0F172A"/>
              </a:solidFill>
              <a:latin typeface="微软雅黑" panose="020B0503020204020204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9829800" y="2350008"/>
            <a:ext cx="1508760" cy="1901952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微软雅黑" panose="020B0503020204020204" charset="-122"/>
              </a:rPr>
              <a:t>POST /ask
POST /ask/stream
GET /health
GET /preview*</a:t>
            </a:r>
            <a:endParaRPr sz="1100" b="0">
              <a:solidFill>
                <a:srgbClr val="475569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30352" y="310896"/>
            <a:ext cx="1554480" cy="329184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 panose="020B0503020204020204" charset="-122"/>
              </a:rPr>
              <a:t>RAG Demo 更新版</a:t>
            </a:r>
            <a:endParaRPr sz="10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30352" y="749808"/>
            <a:ext cx="8412480" cy="41148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微软雅黑" panose="020B0503020204020204" charset="-122"/>
              </a:rPr>
              <a:t>可信回答：引用、插图与拒答</a:t>
            </a:r>
            <a:endParaRPr sz="2400" b="1">
              <a:solidFill>
                <a:srgbClr val="0F172A"/>
              </a:solidFill>
              <a:latin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66928" y="1207008"/>
            <a:ext cx="10424160" cy="292608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微软雅黑" panose="020B0503020204020204" charset="-122"/>
              </a:rPr>
              <a:t>系统围绕“有依据才回答”设计，而不只是生成一段看起来合理的话。</a:t>
            </a:r>
            <a:endParaRPr sz="1200" b="0">
              <a:solidFill>
                <a:srgbClr val="64748B"/>
              </a:solidFill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1064240" y="6446520"/>
            <a:ext cx="566928" cy="18288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r"/>
            <a:r>
              <a:rPr sz="850" b="0">
                <a:solidFill>
                  <a:srgbClr val="64748B"/>
                </a:solidFill>
                <a:latin typeface="微软雅黑" panose="020B0503020204020204" charset="-122"/>
              </a:rPr>
              <a:t>11</a:t>
            </a:r>
            <a:endParaRPr sz="850" b="0">
              <a:solidFill>
                <a:srgbClr val="64748B"/>
              </a:solidFill>
              <a:latin typeface="微软雅黑" panose="020B0503020204020204" charset="-122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3246120" cy="265176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783080"/>
            <a:ext cx="64008" cy="265176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29384"/>
            <a:ext cx="2926079" cy="292608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微软雅黑" panose="020B0503020204020204" charset="-122"/>
              </a:rPr>
              <a:t>行号与引用</a:t>
            </a:r>
            <a:endParaRPr sz="1600" b="1">
              <a:solidFill>
                <a:srgbClr val="0F172A"/>
              </a:solidFill>
              <a:latin typeface="微软雅黑" panose="020B0503020204020204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914400" y="2350008"/>
            <a:ext cx="2926079" cy="1993391"/>
          </a:xfrm>
          <a:prstGeom prst="rect">
            <a:avLst/>
          </a:prstGeom>
          <a:noFill/>
        </p:spPr>
        <p:txBody>
          <a:bodyPr wrap="square" lIns="54864" tIns="27432" rIns="54864" bIns="27432">
            <a:spAutoFit/>
          </a:bodyPr>
          <a:lstStyle/>
          <a:p>
            <a:pPr>
              <a:spcAft>
                <a:spcPts val="400"/>
              </a:spcAft>
            </a:pPr>
            <a:r>
              <a:rPr sz="1150" b="0">
                <a:solidFill>
                  <a:srgbClr val="475569"/>
                </a:solidFill>
                <a:latin typeface="微软雅黑" panose="020B0503020204020204" charset="-122"/>
              </a:rPr>
              <a:t>• 模型按 【引用】文件 Lx-Ly 输出</a:t>
            </a:r>
            <a:endParaRPr sz="1150" b="0">
              <a:solidFill>
                <a:srgbClr val="475569"/>
              </a:solidFill>
              <a:latin typeface="微软雅黑" panose="020B0503020204020204" charset="-122"/>
            </a:endParaRP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475569"/>
                </a:solidFill>
                <a:latin typeface="微软雅黑" panose="020B0503020204020204" charset="-122"/>
              </a:rPr>
              <a:t>• parse_line_citations_from_answer 结构化解析</a:t>
            </a:r>
            <a:endParaRPr sz="1150" b="0">
              <a:solidFill>
                <a:srgbClr val="475569"/>
              </a:solidFill>
              <a:latin typeface="微软雅黑" panose="020B0503020204020204" charset="-122"/>
            </a:endParaRP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475569"/>
                </a:solidFill>
                <a:latin typeface="微软雅黑" panose="020B0503020204020204" charset="-122"/>
              </a:rPr>
              <a:t>• Citation 包含 file、line_start/end、snippet</a:t>
            </a:r>
            <a:endParaRPr sz="1150" b="0">
              <a:solidFill>
                <a:srgbClr val="475569"/>
              </a:solidFill>
              <a:latin typeface="微软雅黑" panose="020B0503020204020204" charset="-122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4480560" y="1783080"/>
            <a:ext cx="3246120" cy="265176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80560" y="1783080"/>
            <a:ext cx="64008" cy="2651760"/>
          </a:xfrm>
          <a:prstGeom prst="rect">
            <a:avLst/>
          </a:prstGeom>
          <a:solidFill>
            <a:srgbClr val="0891B2"/>
          </a:solidFill>
          <a:ln>
            <a:solidFill>
              <a:srgbClr val="0891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3440" y="1929384"/>
            <a:ext cx="2926079" cy="292608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微软雅黑" panose="020B0503020204020204" charset="-122"/>
              </a:rPr>
              <a:t>图片与页面</a:t>
            </a:r>
            <a:endParaRPr sz="1600" b="1">
              <a:solidFill>
                <a:srgbClr val="0F172A"/>
              </a:solidFill>
              <a:latin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4663440" y="2350008"/>
            <a:ext cx="2926079" cy="1993391"/>
          </a:xfrm>
          <a:prstGeom prst="rect">
            <a:avLst/>
          </a:prstGeom>
          <a:noFill/>
        </p:spPr>
        <p:txBody>
          <a:bodyPr wrap="square" lIns="54864" tIns="27432" rIns="54864" bIns="27432">
            <a:spAutoFit/>
          </a:bodyPr>
          <a:lstStyle/>
          <a:p>
            <a:pPr>
              <a:spcAft>
                <a:spcPts val="400"/>
              </a:spcAft>
            </a:pPr>
            <a:r>
              <a:rPr sz="1150" b="0">
                <a:solidFill>
                  <a:srgbClr val="475569"/>
                </a:solidFill>
                <a:latin typeface="微软雅黑" panose="020B0503020204020204" charset="-122"/>
              </a:rPr>
              <a:t>• Markdown 图片保留为 assets 路径</a:t>
            </a:r>
            <a:endParaRPr sz="1150" b="0">
              <a:solidFill>
                <a:srgbClr val="475569"/>
              </a:solidFill>
              <a:latin typeface="微软雅黑" panose="020B0503020204020204" charset="-122"/>
            </a:endParaRP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475569"/>
                </a:solidFill>
                <a:latin typeface="微软雅黑" panose="020B0503020204020204" charset="-122"/>
              </a:rPr>
              <a:t>• ANSWER_WITH_IMAGES=1 可发送给 vision 模型</a:t>
            </a:r>
            <a:endParaRPr sz="1150" b="0">
              <a:solidFill>
                <a:srgbClr val="475569"/>
              </a:solidFill>
              <a:latin typeface="微软雅黑" panose="020B0503020204020204" charset="-122"/>
            </a:endParaRP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475569"/>
                </a:solidFill>
                <a:latin typeface="微软雅黑" panose="020B0503020204020204" charset="-122"/>
              </a:rPr>
              <a:t>• 前端通过 /preview-asset 和 /preview 渲染</a:t>
            </a:r>
            <a:endParaRPr sz="1150" b="0">
              <a:solidFill>
                <a:srgbClr val="475569"/>
              </a:solidFill>
              <a:latin typeface="微软雅黑" panose="020B0503020204020204" charset="-122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8229600" y="1783080"/>
            <a:ext cx="3246120" cy="265176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0" y="1783080"/>
            <a:ext cx="64008" cy="2651760"/>
          </a:xfrm>
          <a:prstGeom prst="rect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0" y="1929384"/>
            <a:ext cx="2926079" cy="292608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微软雅黑" panose="020B0503020204020204" charset="-122"/>
              </a:rPr>
              <a:t>拒答策略</a:t>
            </a:r>
            <a:endParaRPr sz="1600" b="1">
              <a:solidFill>
                <a:srgbClr val="0F172A"/>
              </a:solidFill>
              <a:latin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8412480" y="2350008"/>
            <a:ext cx="2926079" cy="1993391"/>
          </a:xfrm>
          <a:prstGeom prst="rect">
            <a:avLst/>
          </a:prstGeom>
          <a:noFill/>
        </p:spPr>
        <p:txBody>
          <a:bodyPr wrap="square" lIns="54864" tIns="27432" rIns="54864" bIns="27432">
            <a:spAutoFit/>
          </a:bodyPr>
          <a:lstStyle/>
          <a:p>
            <a:pPr>
              <a:spcAft>
                <a:spcPts val="400"/>
              </a:spcAft>
            </a:pPr>
            <a:r>
              <a:rPr sz="1150" b="0">
                <a:solidFill>
                  <a:srgbClr val="475569"/>
                </a:solidFill>
                <a:latin typeface="微软雅黑" panose="020B0503020204020204" charset="-122"/>
              </a:rPr>
              <a:t>• 无路由时直接澄清</a:t>
            </a:r>
            <a:endParaRPr sz="1150" b="0">
              <a:solidFill>
                <a:srgbClr val="475569"/>
              </a:solidFill>
              <a:latin typeface="微软雅黑" panose="020B0503020204020204" charset="-122"/>
            </a:endParaRP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475569"/>
                </a:solidFill>
                <a:latin typeface="微软雅黑" panose="020B0503020204020204" charset="-122"/>
              </a:rPr>
              <a:t>• 找不到依据时回答“当前知识库中未找到相关信息”</a:t>
            </a:r>
            <a:endParaRPr sz="1150" b="0">
              <a:solidFill>
                <a:srgbClr val="475569"/>
              </a:solidFill>
              <a:latin typeface="微软雅黑" panose="020B0503020204020204" charset="-122"/>
            </a:endParaRP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475569"/>
                </a:solidFill>
                <a:latin typeface="微软雅黑" panose="020B0503020204020204" charset="-122"/>
              </a:rPr>
              <a:t>• 批测暴露编造和缺步骤问题</a:t>
            </a:r>
            <a:endParaRPr sz="1150" b="0">
              <a:solidFill>
                <a:srgbClr val="475569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30352" y="310896"/>
            <a:ext cx="1554480" cy="329184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 panose="020B0503020204020204" charset="-122"/>
              </a:rPr>
              <a:t>RAG Demo 更新版</a:t>
            </a:r>
            <a:endParaRPr sz="10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30352" y="749808"/>
            <a:ext cx="8412480" cy="41148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微软雅黑" panose="020B0503020204020204" charset="-122"/>
              </a:rPr>
              <a:t>当前 Demo 数据</a:t>
            </a:r>
            <a:endParaRPr sz="2400" b="1">
              <a:solidFill>
                <a:srgbClr val="0F172A"/>
              </a:solidFill>
              <a:latin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66928" y="1207008"/>
            <a:ext cx="10424160" cy="292608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微软雅黑" panose="020B0503020204020204" charset="-122"/>
              </a:rPr>
              <a:t>配置和文件目录显示，当前主要 Demo 是尼康 Zfc 相机说明书问答。</a:t>
            </a:r>
            <a:endParaRPr sz="1200" b="0">
              <a:solidFill>
                <a:srgbClr val="64748B"/>
              </a:solidFill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1064240" y="6446520"/>
            <a:ext cx="566928" cy="18288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r"/>
            <a:r>
              <a:rPr sz="850" b="0">
                <a:solidFill>
                  <a:srgbClr val="64748B"/>
                </a:solidFill>
                <a:latin typeface="微软雅黑" panose="020B0503020204020204" charset="-122"/>
              </a:rPr>
              <a:t>12</a:t>
            </a:r>
            <a:endParaRPr sz="850" b="0">
              <a:solidFill>
                <a:srgbClr val="64748B"/>
              </a:solidFill>
              <a:latin typeface="微软雅黑" panose="020B0503020204020204" charset="-122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691640"/>
          <a:ext cx="108356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463040"/>
                <a:gridCol w="1463040"/>
                <a:gridCol w="1280160"/>
                <a:gridCol w="5715000"/>
              </a:tblGrid>
              <a:tr h="609600"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微软雅黑" panose="020B0503020204020204" charset="-122"/>
                        </a:defRPr>
                      </a:pPr>
                      <a:r>
                        <a:t>Router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微软雅黑" panose="020B0503020204020204" charset="-122"/>
                        </a:defRPr>
                      </a:pPr>
                      <a:r>
                        <a:t>名称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微软雅黑" panose="020B0503020204020204" charset="-122"/>
                        </a:defRPr>
                      </a:pPr>
                      <a:r>
                        <a:t>状态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微软雅黑" panose="020B0503020204020204" charset="-122"/>
                        </a:defRPr>
                      </a:pPr>
                      <a:r>
                        <a:t>子 Agent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微软雅黑" panose="020B0503020204020204" charset="-122"/>
                        </a:defRPr>
                      </a:pPr>
                      <a:r>
                        <a:t>源文件 / 页段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475569"/>
                          </a:solidFill>
                          <a:latin typeface="微软雅黑" panose="020B0503020204020204" charset="-122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475569"/>
                          </a:solidFill>
                          <a:latin typeface="微软雅黑" panose="020B0503020204020204" charset="-122"/>
                        </a:defRPr>
                      </a:pPr>
                      <a:r>
                        <a:t>相机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475569"/>
                          </a:solidFill>
                          <a:latin typeface="微软雅黑" panose="020B0503020204020204" charset="-122"/>
                        </a:defRPr>
                      </a:pPr>
                      <a:r>
                        <a:t>initialized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475569"/>
                          </a:solidFill>
                          <a:latin typeface="微软雅黑" panose="020B0503020204020204" charset="-122"/>
                        </a:defRPr>
                      </a:pPr>
                      <a:r>
                        <a:t>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475569"/>
                          </a:solidFill>
                          <a:latin typeface="微软雅黑" panose="020B0503020204020204" charset="-122"/>
                        </a:defRPr>
                      </a:pPr>
                      <a:r>
                        <a:t>ZfcRGPRC_(Sc)12.pdf 等；当前 split_ranges 记录 p88-p138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475569"/>
                          </a:solidFill>
                          <a:latin typeface="微软雅黑" panose="020B0503020204020204" charset="-122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475569"/>
                          </a:solidFill>
                          <a:latin typeface="微软雅黑" panose="020B0503020204020204" charset="-122"/>
                        </a:defRPr>
                      </a:pPr>
                      <a:r>
                        <a:t>相机_2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475569"/>
                          </a:solidFill>
                          <a:latin typeface="微软雅黑" panose="020B0503020204020204" charset="-122"/>
                        </a:defRPr>
                      </a:pPr>
                      <a:r>
                        <a:t>initialized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475569"/>
                          </a:solidFill>
                          <a:latin typeface="微软雅黑" panose="020B0503020204020204" charset="-122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475569"/>
                          </a:solidFill>
                          <a:latin typeface="微软雅黑" panose="020B0503020204020204" charset="-122"/>
                        </a:defRPr>
                      </a:pPr>
                      <a:r>
                        <a:t>ZfcRGPRC_(Sc)12-33-706.pdf；p1-p10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822960" y="3858768"/>
            <a:ext cx="324612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3858768"/>
            <a:ext cx="64008" cy="1234440"/>
          </a:xfrm>
          <a:prstGeom prst="rect">
            <a:avLst/>
          </a:prstGeom>
          <a:solidFill>
            <a:srgbClr val="0891B2"/>
          </a:solidFill>
          <a:ln>
            <a:solidFill>
              <a:srgbClr val="0891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4005072"/>
            <a:ext cx="2926079" cy="292608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微软雅黑" panose="020B0503020204020204" charset="-122"/>
              </a:rPr>
              <a:t>典型章节</a:t>
            </a:r>
            <a:endParaRPr sz="1500" b="1">
              <a:solidFill>
                <a:srgbClr val="0F172A"/>
              </a:solidFill>
              <a:latin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05840" y="4425696"/>
            <a:ext cx="2926079" cy="576072"/>
          </a:xfrm>
          <a:prstGeom prst="rect">
            <a:avLst/>
          </a:prstGeom>
          <a:noFill/>
        </p:spPr>
        <p:txBody>
          <a:bodyPr wrap="square" lIns="54864" tIns="27432" rIns="54864" bIns="27432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微软雅黑" panose="020B0503020204020204" charset="-122"/>
              </a:rPr>
              <a:t>• p31-35：曝光补偿/显示屏/自拍</a:t>
            </a:r>
            <a:endParaRPr sz="1100" b="0">
              <a:solidFill>
                <a:srgbClr val="475569"/>
              </a:solidFill>
              <a:latin typeface="微软雅黑" panose="020B0503020204020204" charset="-122"/>
            </a:endParaRP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微软雅黑" panose="020B0503020204020204" charset="-122"/>
              </a:rPr>
              <a:t>• p57-62：电池充电</a:t>
            </a:r>
            <a:endParaRPr sz="1100" b="0">
              <a:solidFill>
                <a:srgbClr val="475569"/>
              </a:solidFill>
              <a:latin typeface="微软雅黑" panose="020B0503020204020204" charset="-122"/>
            </a:endParaRP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微软雅黑" panose="020B0503020204020204" charset="-122"/>
              </a:rPr>
              <a:t>• p67-69：镜头安装</a:t>
            </a:r>
            <a:endParaRPr sz="1100" b="0">
              <a:solidFill>
                <a:srgbClr val="475569"/>
              </a:solidFill>
              <a:latin typeface="微软雅黑" panose="020B0503020204020204" charset="-122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4480560" y="3858768"/>
            <a:ext cx="324612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80560" y="3858768"/>
            <a:ext cx="64008" cy="123444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63440" y="4005072"/>
            <a:ext cx="2926079" cy="292608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微软雅黑" panose="020B0503020204020204" charset="-122"/>
              </a:rPr>
              <a:t>文件组织</a:t>
            </a:r>
            <a:endParaRPr sz="1500" b="1">
              <a:solidFill>
                <a:srgbClr val="0F172A"/>
              </a:solidFill>
              <a:latin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663440" y="4425696"/>
            <a:ext cx="2926079" cy="576072"/>
          </a:xfrm>
          <a:prstGeom prst="rect">
            <a:avLst/>
          </a:prstGeom>
          <a:noFill/>
        </p:spPr>
        <p:txBody>
          <a:bodyPr wrap="square" lIns="54864" tIns="27432" rIns="54864" bIns="27432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微软雅黑" panose="020B0503020204020204" charset="-122"/>
              </a:rPr>
              <a:t>• files/router_1/agent_{id}/md</a:t>
            </a:r>
            <a:endParaRPr sz="1100" b="0">
              <a:solidFill>
                <a:srgbClr val="475569"/>
              </a:solidFill>
              <a:latin typeface="微软雅黑" panose="020B0503020204020204" charset="-122"/>
            </a:endParaRP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微软雅黑" panose="020B0503020204020204" charset="-122"/>
              </a:rPr>
              <a:t>• files/router_1/agent_{id}/assets</a:t>
            </a:r>
            <a:endParaRPr sz="1100" b="0">
              <a:solidFill>
                <a:srgbClr val="475569"/>
              </a:solidFill>
              <a:latin typeface="微软雅黑" panose="020B0503020204020204" charset="-122"/>
            </a:endParaRP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微软雅黑" panose="020B0503020204020204" charset="-122"/>
              </a:rPr>
              <a:t>• router_1/agents.json 保存路由问题</a:t>
            </a:r>
            <a:endParaRPr sz="1100" b="0">
              <a:solidFill>
                <a:srgbClr val="475569"/>
              </a:solidFill>
              <a:latin typeface="微软雅黑" panose="020B0503020204020204" charset="-122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8138160" y="3858768"/>
            <a:ext cx="324612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38160" y="3858768"/>
            <a:ext cx="64008" cy="1234440"/>
          </a:xfrm>
          <a:prstGeom prst="rect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4005072"/>
            <a:ext cx="2926079" cy="292608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微软雅黑" panose="020B0503020204020204" charset="-122"/>
              </a:rPr>
              <a:t>测试用例</a:t>
            </a:r>
            <a:endParaRPr sz="1500" b="1">
              <a:solidFill>
                <a:srgbClr val="0F172A"/>
              </a:solidFill>
              <a:latin typeface="微软雅黑" panose="020B050302020402020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321040" y="4425696"/>
            <a:ext cx="2926079" cy="576072"/>
          </a:xfrm>
          <a:prstGeom prst="rect">
            <a:avLst/>
          </a:prstGeom>
          <a:noFill/>
        </p:spPr>
        <p:txBody>
          <a:bodyPr wrap="square" lIns="54864" tIns="27432" rIns="54864" bIns="27432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微软雅黑" panose="020B0503020204020204" charset="-122"/>
              </a:rPr>
              <a:t>• batch_tests.json 当前 13 条</a:t>
            </a:r>
            <a:endParaRPr sz="1100" b="0">
              <a:solidFill>
                <a:srgbClr val="475569"/>
              </a:solidFill>
              <a:latin typeface="微软雅黑" panose="020B0503020204020204" charset="-122"/>
            </a:endParaRP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微软雅黑" panose="020B0503020204020204" charset="-122"/>
              </a:rPr>
              <a:t>• 问题覆盖镜头、挂带、充电、存储卡、显示屏等</a:t>
            </a:r>
            <a:endParaRPr sz="1100" b="0">
              <a:solidFill>
                <a:srgbClr val="475569"/>
              </a:solidFill>
              <a:latin typeface="微软雅黑" panose="020B0503020204020204" charset="-122"/>
            </a:endParaRP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微软雅黑" panose="020B0503020204020204" charset="-122"/>
              </a:rPr>
              <a:t>• 记录命中 agent 与 accuracy_percent</a:t>
            </a:r>
            <a:endParaRPr sz="1100" b="0">
              <a:solidFill>
                <a:srgbClr val="475569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30352" y="310896"/>
            <a:ext cx="1554480" cy="329184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 panose="020B0503020204020204" charset="-122"/>
              </a:rPr>
              <a:t>RAG Demo 更新版</a:t>
            </a:r>
            <a:endParaRPr sz="10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30352" y="749808"/>
            <a:ext cx="8412480" cy="41148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微软雅黑" panose="020B0503020204020204" charset="-122"/>
              </a:rPr>
              <a:t>批量测试与质量观察</a:t>
            </a:r>
            <a:endParaRPr sz="2400" b="1">
              <a:solidFill>
                <a:srgbClr val="0F172A"/>
              </a:solidFill>
              <a:latin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66928" y="1207008"/>
            <a:ext cx="10424160" cy="292608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微软雅黑" panose="020B0503020204020204" charset="-122"/>
              </a:rPr>
              <a:t>批测完整走路由 + 回答，再用 LLM 评委对比参考答案给出准确率。</a:t>
            </a:r>
            <a:endParaRPr sz="1200" b="0">
              <a:solidFill>
                <a:srgbClr val="64748B"/>
              </a:solidFill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1064240" y="6446520"/>
            <a:ext cx="566928" cy="18288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r"/>
            <a:r>
              <a:rPr sz="850" b="0">
                <a:solidFill>
                  <a:srgbClr val="64748B"/>
                </a:solidFill>
                <a:latin typeface="微软雅黑" panose="020B0503020204020204" charset="-122"/>
              </a:rPr>
              <a:t>13</a:t>
            </a:r>
            <a:endParaRPr sz="850" b="0">
              <a:solidFill>
                <a:srgbClr val="64748B"/>
              </a:solidFill>
              <a:latin typeface="微软雅黑" panose="020B0503020204020204" charset="-122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691640"/>
          <a:ext cx="10835640" cy="3246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1554480"/>
                <a:gridCol w="1005840"/>
                <a:gridCol w="4617720"/>
              </a:tblGrid>
              <a:tr h="649224"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微软雅黑" panose="020B0503020204020204" charset="-122"/>
                        </a:defRPr>
                      </a:pPr>
                      <a:r>
                        <a:t>问题示例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微软雅黑" panose="020B0503020204020204" charset="-122"/>
                        </a:defRPr>
                      </a:pPr>
                      <a:r>
                        <a:t>命中 Agent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微软雅黑" panose="020B0503020204020204" charset="-122"/>
                        </a:defRPr>
                      </a:pPr>
                      <a:r>
                        <a:t>评分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微软雅黑" panose="020B0503020204020204" charset="-122"/>
                        </a:defRPr>
                      </a:pPr>
                      <a:r>
                        <a:t>暴露的问题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649224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475569"/>
                          </a:solidFill>
                          <a:latin typeface="微软雅黑" panose="020B0503020204020204" charset="-122"/>
                        </a:defRPr>
                      </a:pPr>
                      <a:r>
                        <a:t>插入电池和存储卡要注意什么？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475569"/>
                          </a:solidFill>
                          <a:latin typeface="微软雅黑" panose="020B0503020204020204" charset="-122"/>
                        </a:defRPr>
                      </a:pPr>
                      <a:r>
                        <a:t>agent_10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475569"/>
                          </a:solidFill>
                          <a:latin typeface="微软雅黑" panose="020B0503020204020204" charset="-122"/>
                        </a:defRPr>
                      </a:pPr>
                      <a: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475569"/>
                          </a:solidFill>
                          <a:latin typeface="微软雅黑" panose="020B0503020204020204" charset="-122"/>
                        </a:defRPr>
                      </a:pPr>
                      <a:r>
                        <a:t>步骤和图示信息完整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49224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475569"/>
                          </a:solidFill>
                          <a:latin typeface="微软雅黑" panose="020B0503020204020204" charset="-122"/>
                        </a:defRPr>
                      </a:pPr>
                      <a:r>
                        <a:t>我想装个新镜头，操作步骤是什么？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475569"/>
                          </a:solidFill>
                          <a:latin typeface="微软雅黑" panose="020B0503020204020204" charset="-122"/>
                        </a:defRPr>
                      </a:pPr>
                      <a:r>
                        <a:t>agent_11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475569"/>
                          </a:solidFill>
                          <a:latin typeface="微软雅黑" panose="020B0503020204020204" charset="-122"/>
                        </a:defRPr>
                      </a:pPr>
                      <a:r>
                        <a:t>90%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475569"/>
                          </a:solidFill>
                          <a:latin typeface="微软雅黑" panose="020B0503020204020204" charset="-122"/>
                        </a:defRPr>
                      </a:pPr>
                      <a:r>
                        <a:t>核心步骤正确，但额外补充 F 卡口信息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649224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475569"/>
                          </a:solidFill>
                          <a:latin typeface="微软雅黑" panose="020B0503020204020204" charset="-122"/>
                        </a:defRPr>
                      </a:pPr>
                      <a:r>
                        <a:t>相机电池怎么充电？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475569"/>
                          </a:solidFill>
                          <a:latin typeface="微软雅黑" panose="020B0503020204020204" charset="-122"/>
                        </a:defRPr>
                      </a:pPr>
                      <a:r>
                        <a:t>agent_9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475569"/>
                          </a:solidFill>
                          <a:latin typeface="微软雅黑" panose="020B0503020204020204" charset="-122"/>
                        </a:defRPr>
                      </a:pPr>
                      <a:r>
                        <a:t>50%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475569"/>
                          </a:solidFill>
                          <a:latin typeface="微软雅黑" panose="020B0503020204020204" charset="-122"/>
                        </a:defRPr>
                      </a:pPr>
                      <a:r>
                        <a:t>混入参考外充电方式和故障排查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49224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475569"/>
                          </a:solidFill>
                          <a:latin typeface="微软雅黑" panose="020B0503020204020204" charset="-122"/>
                        </a:defRPr>
                      </a:pPr>
                      <a:r>
                        <a:t>怎么安装相机挂带？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475569"/>
                          </a:solidFill>
                          <a:latin typeface="微软雅黑" panose="020B0503020204020204" charset="-122"/>
                        </a:defRPr>
                      </a:pPr>
                      <a:r>
                        <a:t>agent_8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475569"/>
                          </a:solidFill>
                          <a:latin typeface="微软雅黑" panose="020B0503020204020204" charset="-122"/>
                        </a:defRPr>
                      </a:pPr>
                      <a:r>
                        <a:t>30%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475569"/>
                          </a:solidFill>
                          <a:latin typeface="微软雅黑" panose="020B0503020204020204" charset="-122"/>
                        </a:defRPr>
                      </a:pPr>
                      <a:r>
                        <a:t>只输出图片，缺少文字步骤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914400" y="5349240"/>
            <a:ext cx="10241280" cy="347472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ctr"/>
            <a:r>
              <a:rPr sz="1320" b="1">
                <a:solidFill>
                  <a:srgbClr val="475569"/>
                </a:solidFill>
                <a:latin typeface="微软雅黑" panose="020B0503020204020204" charset="-122"/>
              </a:rPr>
              <a:t>结论：路由基本能命中章节，但回答模型仍需要通过提示词、后处理或评测闭环约束“原文复制”和“步骤完整性”。</a:t>
            </a:r>
            <a:endParaRPr sz="1320" b="1">
              <a:solidFill>
                <a:srgbClr val="475569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30352" y="310896"/>
            <a:ext cx="1554480" cy="329184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 panose="020B0503020204020204" charset="-122"/>
              </a:rPr>
              <a:t>RAG Demo 更新版</a:t>
            </a:r>
            <a:endParaRPr sz="10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30352" y="749808"/>
            <a:ext cx="8412480" cy="41148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微软雅黑" panose="020B0503020204020204" charset="-122"/>
              </a:rPr>
              <a:t>设计取舍与演进方向</a:t>
            </a:r>
            <a:endParaRPr sz="2400" b="1">
              <a:solidFill>
                <a:srgbClr val="0F172A"/>
              </a:solidFill>
              <a:latin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66928" y="1207008"/>
            <a:ext cx="10424160" cy="292608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微软雅黑" panose="020B0503020204020204" charset="-122"/>
              </a:rPr>
              <a:t>这个方案用轻量工程换取快速落地和可解释性，但需要正视上下文、成本和多章节问题。</a:t>
            </a:r>
            <a:endParaRPr sz="1200" b="0">
              <a:solidFill>
                <a:srgbClr val="64748B"/>
              </a:solidFill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1064240" y="6446520"/>
            <a:ext cx="566928" cy="18288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r"/>
            <a:r>
              <a:rPr sz="850" b="0">
                <a:solidFill>
                  <a:srgbClr val="64748B"/>
                </a:solidFill>
                <a:latin typeface="微软雅黑" panose="020B0503020204020204" charset="-122"/>
              </a:rPr>
              <a:t>14</a:t>
            </a:r>
            <a:endParaRPr sz="850" b="0">
              <a:solidFill>
                <a:srgbClr val="64748B"/>
              </a:solidFill>
              <a:latin typeface="微软雅黑" panose="020B0503020204020204" charset="-122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691640"/>
          <a:ext cx="1083564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4114800"/>
                <a:gridCol w="4800600"/>
              </a:tblGrid>
              <a:tr h="530352"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微软雅黑" panose="020B0503020204020204" charset="-122"/>
                        </a:defRPr>
                      </a:pPr>
                      <a:r>
                        <a:t>选择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微软雅黑" panose="020B0503020204020204" charset="-122"/>
                        </a:defRPr>
                      </a:pPr>
                      <a:r>
                        <a:t>收益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微软雅黑" panose="020B0503020204020204" charset="-122"/>
                        </a:defRPr>
                      </a:pPr>
                      <a:r>
                        <a:t>代价 / 风险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>
                        <a:defRPr sz="1020" b="0">
                          <a:solidFill>
                            <a:srgbClr val="475569"/>
                          </a:solidFill>
                          <a:latin typeface="微软雅黑" panose="020B0503020204020204" charset="-122"/>
                        </a:defRPr>
                      </a:pPr>
                      <a:r>
                        <a:t>不用向量库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20" b="0">
                          <a:solidFill>
                            <a:srgbClr val="475569"/>
                          </a:solidFill>
                          <a:latin typeface="微软雅黑" panose="020B0503020204020204" charset="-122"/>
                        </a:defRPr>
                      </a:pPr>
                      <a:r>
                        <a:t>零索引运维，知识更新即生效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20" b="0">
                          <a:solidFill>
                            <a:srgbClr val="475569"/>
                          </a:solidFill>
                          <a:latin typeface="微软雅黑" panose="020B0503020204020204" charset="-122"/>
                        </a:defRPr>
                      </a:pPr>
                      <a:r>
                        <a:t>每次发送整段知识，token 成本高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>
                        <a:defRPr sz="1020" b="0">
                          <a:solidFill>
                            <a:srgbClr val="475569"/>
                          </a:solidFill>
                          <a:latin typeface="微软雅黑" panose="020B0503020204020204" charset="-122"/>
                        </a:defRPr>
                      </a:pPr>
                      <a:r>
                        <a:t>单 Agent 调度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20" b="0">
                          <a:solidFill>
                            <a:srgbClr val="475569"/>
                          </a:solidFill>
                          <a:latin typeface="微软雅黑" panose="020B0503020204020204" charset="-122"/>
                        </a:defRPr>
                      </a:pPr>
                      <a:r>
                        <a:t>答案聚焦，减少多章节冲突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20" b="0">
                          <a:solidFill>
                            <a:srgbClr val="475569"/>
                          </a:solidFill>
                          <a:latin typeface="微软雅黑" panose="020B0503020204020204" charset="-122"/>
                        </a:defRPr>
                      </a:pPr>
                      <a:r>
                        <a:t>跨章节问题需要澄清或二次路由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>
                        <a:defRPr sz="1020" b="0">
                          <a:solidFill>
                            <a:srgbClr val="475569"/>
                          </a:solidFill>
                          <a:latin typeface="微软雅黑" panose="020B0503020204020204" charset="-122"/>
                        </a:defRPr>
                      </a:pPr>
                      <a:r>
                        <a:t>全文上下文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20" b="0">
                          <a:solidFill>
                            <a:srgbClr val="475569"/>
                          </a:solidFill>
                          <a:latin typeface="微软雅黑" panose="020B0503020204020204" charset="-122"/>
                        </a:defRPr>
                      </a:pPr>
                      <a:r>
                        <a:t>步骤完整、引用直观、插图保真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20" b="0">
                          <a:solidFill>
                            <a:srgbClr val="475569"/>
                          </a:solidFill>
                          <a:latin typeface="微软雅黑" panose="020B0503020204020204" charset="-122"/>
                        </a:defRPr>
                      </a:pPr>
                      <a:r>
                        <a:t>受 MAX_FILE_CHARS 和模型窗口限制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>
                        <a:defRPr sz="1020" b="0">
                          <a:solidFill>
                            <a:srgbClr val="475569"/>
                          </a:solidFill>
                          <a:latin typeface="微软雅黑" panose="020B0503020204020204" charset="-122"/>
                        </a:defRPr>
                      </a:pPr>
                      <a:r>
                        <a:t>LLM 路由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20" b="0">
                          <a:solidFill>
                            <a:srgbClr val="475569"/>
                          </a:solidFill>
                          <a:latin typeface="微软雅黑" panose="020B0503020204020204" charset="-122"/>
                        </a:defRPr>
                      </a:pPr>
                      <a:r>
                        <a:t>适应口语问题，路由信号可解释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20" b="0">
                          <a:solidFill>
                            <a:srgbClr val="475569"/>
                          </a:solidFill>
                          <a:latin typeface="微软雅黑" panose="020B0503020204020204" charset="-122"/>
                        </a:defRPr>
                      </a:pPr>
                      <a:r>
                        <a:t>依赖 route_questions 覆盖和模型稳定性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>
            <p:custDataLst>
              <p:tags r:id="rId1"/>
            </p:custDataLst>
          </p:nvPr>
        </p:nvSpPr>
        <p:spPr>
          <a:xfrm>
            <a:off x="868680" y="4800600"/>
            <a:ext cx="324612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>
            <p:custDataLst>
              <p:tags r:id="rId2"/>
            </p:custDataLst>
          </p:nvPr>
        </p:nvSpPr>
        <p:spPr>
          <a:xfrm>
            <a:off x="868680" y="4800600"/>
            <a:ext cx="64008" cy="914400"/>
          </a:xfrm>
          <a:prstGeom prst="rect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>
            <p:custDataLst>
              <p:tags r:id="rId3"/>
            </p:custDataLst>
          </p:nvPr>
        </p:nvSpPr>
        <p:spPr>
          <a:xfrm>
            <a:off x="1051560" y="4946904"/>
            <a:ext cx="2926079" cy="292608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微软雅黑" panose="020B0503020204020204" charset="-122"/>
              </a:rPr>
              <a:t>适合</a:t>
            </a:r>
            <a:endParaRPr sz="1400" b="1">
              <a:solidFill>
                <a:srgbClr val="0F172A"/>
              </a:solidFill>
              <a:latin typeface="微软雅黑" panose="020B0503020204020204" charset="-122"/>
            </a:endParaRPr>
          </a:p>
        </p:txBody>
      </p:sp>
      <p:sp>
        <p:nvSpPr>
          <p:cNvPr id="10" name="TextBox 9"/>
          <p:cNvSpPr txBox="1"/>
          <p:nvPr>
            <p:custDataLst>
              <p:tags r:id="rId4"/>
            </p:custDataLst>
          </p:nvPr>
        </p:nvSpPr>
        <p:spPr>
          <a:xfrm>
            <a:off x="1051560" y="5239258"/>
            <a:ext cx="2926079" cy="256032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微软雅黑" panose="020B0503020204020204" charset="-122"/>
              </a:rPr>
              <a:t>说明书、操作手册、章节边界清晰、需要图文引用的 PoC / Demo</a:t>
            </a:r>
            <a:endParaRPr sz="1100" b="0">
              <a:solidFill>
                <a:srgbClr val="475569"/>
              </a:solidFill>
              <a:latin typeface="微软雅黑" panose="020B0503020204020204" charset="-122"/>
            </a:endParaRPr>
          </a:p>
        </p:txBody>
      </p:sp>
      <p:sp>
        <p:nvSpPr>
          <p:cNvPr id="11" name="Rounded Rectangle 10"/>
          <p:cNvSpPr/>
          <p:nvPr>
            <p:custDataLst>
              <p:tags r:id="rId5"/>
            </p:custDataLst>
          </p:nvPr>
        </p:nvSpPr>
        <p:spPr>
          <a:xfrm>
            <a:off x="4480560" y="4800600"/>
            <a:ext cx="324612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>
            <p:custDataLst>
              <p:tags r:id="rId6"/>
            </p:custDataLst>
          </p:nvPr>
        </p:nvSpPr>
        <p:spPr>
          <a:xfrm>
            <a:off x="4480560" y="4800600"/>
            <a:ext cx="64008" cy="914400"/>
          </a:xfrm>
          <a:prstGeom prst="rect">
            <a:avLst/>
          </a:prstGeom>
          <a:solidFill>
            <a:srgbClr val="DC2626"/>
          </a:solidFill>
          <a:ln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>
            <p:custDataLst>
              <p:tags r:id="rId7"/>
            </p:custDataLst>
          </p:nvPr>
        </p:nvSpPr>
        <p:spPr>
          <a:xfrm>
            <a:off x="4663440" y="4946904"/>
            <a:ext cx="2926079" cy="292608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微软雅黑" panose="020B0503020204020204" charset="-122"/>
              </a:rPr>
              <a:t>不适合</a:t>
            </a:r>
            <a:endParaRPr sz="1400" b="1">
              <a:solidFill>
                <a:srgbClr val="0F172A"/>
              </a:solidFill>
              <a:latin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>
            <p:custDataLst>
              <p:tags r:id="rId8"/>
            </p:custDataLst>
          </p:nvPr>
        </p:nvSpPr>
        <p:spPr>
          <a:xfrm>
            <a:off x="4663440" y="5239258"/>
            <a:ext cx="2926079" cy="256032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微软雅黑" panose="020B0503020204020204" charset="-122"/>
              </a:rPr>
              <a:t>超大规模知识库、复杂跨文档召回、严格低延迟线上场景</a:t>
            </a:r>
            <a:endParaRPr sz="1100" b="0">
              <a:solidFill>
                <a:srgbClr val="475569"/>
              </a:solidFill>
              <a:latin typeface="微软雅黑" panose="020B0503020204020204" charset="-122"/>
            </a:endParaRPr>
          </a:p>
        </p:txBody>
      </p:sp>
      <p:sp>
        <p:nvSpPr>
          <p:cNvPr id="15" name="Rounded Rectangle 14"/>
          <p:cNvSpPr/>
          <p:nvPr>
            <p:custDataLst>
              <p:tags r:id="rId9"/>
            </p:custDataLst>
          </p:nvPr>
        </p:nvSpPr>
        <p:spPr>
          <a:xfrm>
            <a:off x="8092440" y="4800600"/>
            <a:ext cx="324612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>
            <p:custDataLst>
              <p:tags r:id="rId10"/>
            </p:custDataLst>
          </p:nvPr>
        </p:nvSpPr>
        <p:spPr>
          <a:xfrm>
            <a:off x="8092440" y="4800600"/>
            <a:ext cx="64008" cy="914400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>
            <p:custDataLst>
              <p:tags r:id="rId11"/>
            </p:custDataLst>
          </p:nvPr>
        </p:nvSpPr>
        <p:spPr>
          <a:xfrm>
            <a:off x="8275319" y="4946904"/>
            <a:ext cx="2926079" cy="292608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微软雅黑" panose="020B0503020204020204" charset="-122"/>
              </a:rPr>
              <a:t>后续演进</a:t>
            </a:r>
            <a:endParaRPr sz="1400" b="1">
              <a:solidFill>
                <a:srgbClr val="0F172A"/>
              </a:solidFill>
              <a:latin typeface="微软雅黑" panose="020B0503020204020204" charset="-122"/>
            </a:endParaRPr>
          </a:p>
        </p:txBody>
      </p:sp>
      <p:sp>
        <p:nvSpPr>
          <p:cNvPr id="18" name="TextBox 17"/>
          <p:cNvSpPr txBox="1"/>
          <p:nvPr>
            <p:custDataLst>
              <p:tags r:id="rId12"/>
            </p:custDataLst>
          </p:nvPr>
        </p:nvSpPr>
        <p:spPr>
          <a:xfrm>
            <a:off x="8275319" y="5239258"/>
            <a:ext cx="2926079" cy="256032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微软雅黑" panose="020B0503020204020204" charset="-122"/>
              </a:rPr>
              <a:t>混合向量检索、多 Agent 汇总、多轮澄清、数据库持久化、引用校验</a:t>
            </a:r>
            <a:endParaRPr sz="1100" b="0">
              <a:solidFill>
                <a:srgbClr val="475569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68.4,&quot;left&quot;:302.4,&quot;top&quot;:392.4,&quot;width&quot;:457.2}"/>
</p:tagLst>
</file>

<file path=ppt/tags/tag2.xml><?xml version="1.0" encoding="utf-8"?>
<p:tagLst xmlns:p="http://schemas.openxmlformats.org/presentationml/2006/main">
  <p:tag name="KSO_WM_DIAGRAM_VIRTUALLY_FRAME" val="{&quot;height&quot;:68.4,&quot;left&quot;:302.4,&quot;top&quot;:392.4,&quot;width&quot;:457.2}"/>
</p:tagLst>
</file>

<file path=ppt/tags/tag3.xml><?xml version="1.0" encoding="utf-8"?>
<p:tagLst xmlns:p="http://schemas.openxmlformats.org/presentationml/2006/main">
  <p:tag name="KSO_WM_DIAGRAM_VIRTUALLY_FRAME" val="{&quot;height&quot;:68.4,&quot;left&quot;:302.4,&quot;top&quot;:392.4,&quot;width&quot;:457.2}"/>
</p:tagLst>
</file>

<file path=ppt/tags/tag4.xml><?xml version="1.0" encoding="utf-8"?>
<p:tagLst xmlns:p="http://schemas.openxmlformats.org/presentationml/2006/main">
  <p:tag name="KSO_WM_DIAGRAM_VIRTUALLY_FRAME" val="{&quot;height&quot;:68.4,&quot;left&quot;:302.4,&quot;top&quot;:392.4,&quot;width&quot;:457.2}"/>
</p:tagLst>
</file>

<file path=ppt/tags/tag5.xml><?xml version="1.0" encoding="utf-8"?>
<p:tagLst xmlns:p="http://schemas.openxmlformats.org/presentationml/2006/main">
  <p:tag name="KSO_WM_DIAGRAM_VIRTUALLY_FRAME" val="{&quot;height&quot;:68.4,&quot;left&quot;:302.4,&quot;top&quot;:392.4,&quot;width&quot;:457.2}"/>
</p:tagLst>
</file>

<file path=ppt/tags/tag6.xml><?xml version="1.0" encoding="utf-8"?>
<p:tagLst xmlns:p="http://schemas.openxmlformats.org/presentationml/2006/main">
  <p:tag name="KSO_WM_DIAGRAM_VIRTUALLY_FRAME" val="{&quot;height&quot;:68.4,&quot;left&quot;:302.4,&quot;top&quot;:392.4,&quot;width&quot;:457.2}"/>
</p:tagLst>
</file>

<file path=ppt/tags/tag7.xml><?xml version="1.0" encoding="utf-8"?>
<p:tagLst xmlns:p="http://schemas.openxmlformats.org/presentationml/2006/main">
  <p:tag name="KSO_WM_DIAGRAM_VIRTUALLY_FRAME" val="{&quot;height&quot;:68.4,&quot;left&quot;:302.4,&quot;top&quot;:392.4,&quot;width&quot;:457.2}"/>
</p:tagLst>
</file>

<file path=ppt/tags/tag8.xml><?xml version="1.0" encoding="utf-8"?>
<p:tagLst xmlns:p="http://schemas.openxmlformats.org/presentationml/2006/main">
  <p:tag name="KSO_WM_DIAGRAM_VIRTUALLY_FRAME" val="{&quot;height&quot;:68.4,&quot;left&quot;:302.4,&quot;top&quot;:392.4,&quot;width&quot;:457.2}"/>
</p:tagLst>
</file>

<file path=ppt/tags/tag9.xml><?xml version="1.0" encoding="utf-8"?>
<p:tagLst xmlns:p="http://schemas.openxmlformats.org/presentationml/2006/main">
  <p:tag name="KSO_WM_DIAGRAM_VIRTUALLY_FRAME" val="{&quot;height&quot;:72,&quot;left&quot;:68.4,&quot;top&quot;:378,&quot;width&quot;:824.4}"/>
</p:tagLst>
</file>

<file path=ppt/tags/tag10.xml><?xml version="1.0" encoding="utf-8"?>
<p:tagLst xmlns:p="http://schemas.openxmlformats.org/presentationml/2006/main">
  <p:tag name="KSO_WM_DIAGRAM_VIRTUALLY_FRAME" val="{&quot;height&quot;:72,&quot;left&quot;:68.4,&quot;top&quot;:378,&quot;width&quot;:824.4}"/>
</p:tagLst>
</file>

<file path=ppt/tags/tag11.xml><?xml version="1.0" encoding="utf-8"?>
<p:tagLst xmlns:p="http://schemas.openxmlformats.org/presentationml/2006/main">
  <p:tag name="KSO_WM_DIAGRAM_VIRTUALLY_FRAME" val="{&quot;height&quot;:72,&quot;left&quot;:68.4,&quot;top&quot;:378,&quot;width&quot;:824.4}"/>
</p:tagLst>
</file>

<file path=ppt/tags/tag12.xml><?xml version="1.0" encoding="utf-8"?>
<p:tagLst xmlns:p="http://schemas.openxmlformats.org/presentationml/2006/main">
  <p:tag name="KSO_WM_DIAGRAM_VIRTUALLY_FRAME" val="{&quot;height&quot;:72,&quot;left&quot;:68.4,&quot;top&quot;:378,&quot;width&quot;:824.4}"/>
</p:tagLst>
</file>

<file path=ppt/tags/tag13.xml><?xml version="1.0" encoding="utf-8"?>
<p:tagLst xmlns:p="http://schemas.openxmlformats.org/presentationml/2006/main">
  <p:tag name="KSO_WM_DIAGRAM_VIRTUALLY_FRAME" val="{&quot;height&quot;:72,&quot;left&quot;:68.4,&quot;top&quot;:378,&quot;width&quot;:824.4}"/>
</p:tagLst>
</file>

<file path=ppt/tags/tag14.xml><?xml version="1.0" encoding="utf-8"?>
<p:tagLst xmlns:p="http://schemas.openxmlformats.org/presentationml/2006/main">
  <p:tag name="KSO_WM_DIAGRAM_VIRTUALLY_FRAME" val="{&quot;height&quot;:72,&quot;left&quot;:68.4,&quot;top&quot;:378,&quot;width&quot;:824.4}"/>
</p:tagLst>
</file>

<file path=ppt/tags/tag15.xml><?xml version="1.0" encoding="utf-8"?>
<p:tagLst xmlns:p="http://schemas.openxmlformats.org/presentationml/2006/main">
  <p:tag name="KSO_WM_DIAGRAM_VIRTUALLY_FRAME" val="{&quot;height&quot;:72,&quot;left&quot;:68.4,&quot;top&quot;:378,&quot;width&quot;:824.4}"/>
</p:tagLst>
</file>

<file path=ppt/tags/tag16.xml><?xml version="1.0" encoding="utf-8"?>
<p:tagLst xmlns:p="http://schemas.openxmlformats.org/presentationml/2006/main">
  <p:tag name="KSO_WM_DIAGRAM_VIRTUALLY_FRAME" val="{&quot;height&quot;:72,&quot;left&quot;:68.4,&quot;top&quot;:378,&quot;width&quot;:824.4}"/>
</p:tagLst>
</file>

<file path=ppt/tags/tag17.xml><?xml version="1.0" encoding="utf-8"?>
<p:tagLst xmlns:p="http://schemas.openxmlformats.org/presentationml/2006/main">
  <p:tag name="KSO_WM_DIAGRAM_VIRTUALLY_FRAME" val="{&quot;height&quot;:72,&quot;left&quot;:68.4,&quot;top&quot;:378,&quot;width&quot;:824.4}"/>
</p:tagLst>
</file>

<file path=ppt/tags/tag18.xml><?xml version="1.0" encoding="utf-8"?>
<p:tagLst xmlns:p="http://schemas.openxmlformats.org/presentationml/2006/main">
  <p:tag name="KSO_WM_DIAGRAM_VIRTUALLY_FRAME" val="{&quot;height&quot;:72,&quot;left&quot;:68.4,&quot;top&quot;:378,&quot;width&quot;:824.4}"/>
</p:tagLst>
</file>

<file path=ppt/tags/tag19.xml><?xml version="1.0" encoding="utf-8"?>
<p:tagLst xmlns:p="http://schemas.openxmlformats.org/presentationml/2006/main">
  <p:tag name="KSO_WM_DIAGRAM_VIRTUALLY_FRAME" val="{&quot;height&quot;:72,&quot;left&quot;:68.4,&quot;top&quot;:378,&quot;width&quot;:824.4}"/>
</p:tagLst>
</file>

<file path=ppt/tags/tag20.xml><?xml version="1.0" encoding="utf-8"?>
<p:tagLst xmlns:p="http://schemas.openxmlformats.org/presentationml/2006/main">
  <p:tag name="KSO_WM_DIAGRAM_VIRTUALLY_FRAME" val="{&quot;height&quot;:72,&quot;left&quot;:68.4,&quot;top&quot;:378,&quot;width&quot;:824.4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4535</Words>
  <Application>WPS 演示</Application>
  <PresentationFormat>On-screen Show (4:3)</PresentationFormat>
  <Paragraphs>505</Paragraphs>
  <Slides>14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14</vt:i4>
      </vt:variant>
    </vt:vector>
  </HeadingPairs>
  <TitlesOfParts>
    <vt:vector size="22" baseType="lpstr">
      <vt:lpstr>Arial</vt:lpstr>
      <vt:lpstr>宋体</vt:lpstr>
      <vt:lpstr>Wingdings</vt:lpstr>
      <vt:lpstr>Arial</vt:lpstr>
      <vt:lpstr>微软雅黑</vt:lpstr>
      <vt:lpstr>Calibri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zzy</cp:lastModifiedBy>
  <cp:revision>2</cp:revision>
  <dcterms:created xsi:type="dcterms:W3CDTF">2013-01-27T09:14:00Z</dcterms:created>
  <dcterms:modified xsi:type="dcterms:W3CDTF">2026-06-18T05:41:26Z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3B422B93BE9C46418A6D1BC12C0B76F7_12</vt:lpwstr>
  </property>
  <property fmtid="{D5CDD505-2E9C-101B-9397-08002B2CF9AE}" pid="3" name="KSOProductBuildVer">
    <vt:lpwstr>2052-12.1.0.26895</vt:lpwstr>
  </property>
</Properties>
</file>